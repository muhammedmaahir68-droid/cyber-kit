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</a:pPr>
            <a:r>
              <a:rPr lang="en-I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I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  </a:t>
            </a:r>
            <a:r>
              <a:rPr lang="en" sz="1100" b="1" i="0" u="none" strike="noStrike" cap="none" dirty="0">
                <a:solidFill>
                  <a:srgbClr val="196F3D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1500" b="1">
                <a:solidFill>
                  <a:srgbClr val="154360"/>
                </a:solidFill>
                <a:latin typeface="Times New Roman"/>
              </a:defRPr>
            </a:pPr>
            <a:r>
              <a:t>AAROHAN-X : AI-Powered Criminal Network Analysis &amp; Tactical Field Triage Ecosystem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Problem Statement ID  –  189</a:t>
            </a:r>
            <a:r>
              <a:rPr sz="1000" b="1">
                <a:solidFill>
                  <a:srgbClr val="C0392B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000" b="1">
                <a:solidFill>
                  <a:srgbClr val="154360"/>
                </a:solidFill>
                <a:latin typeface="Times New Roman"/>
              </a:defRPr>
            </a:pPr>
            <a: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0">
                <a:solidFill>
                  <a:srgbClr val="2C3E50"/>
                </a:solidFill>
                <a:latin typeface="Times New Roman"/>
              </a:defRPr>
            </a:pPr>
            <a:r>
              <a:t>AI-Powered Criminal Network Analysis System (Bureau of Police Research &amp; Development / Ministry of Home Affairs)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Theme  –  Smart Automation / Cyber Security &amp; Law Enforcement</a:t>
            </a:r>
            <a:r>
              <a:rPr sz="950" b="0">
                <a:solidFill>
                  <a:srgbClr val="2C3E50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PS Category  –  Hardware + Software (Hybrid Portable Field Unit)</a:t>
            </a:r>
            <a:r>
              <a:rPr sz="950" b="1">
                <a:solidFill>
                  <a:srgbClr val="1E8449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Team Name  –  AAROHAN-X</a:t>
            </a:r>
            <a:r>
              <a:rPr sz="1000" b="1">
                <a:solidFill>
                  <a:srgbClr val="154360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1000"/>
              <a:buFont typeface="Calibri"/>
              <a:buNone/>
            </a:pPr>
            <a:r>
              <a:rPr sz="1000" b="1">
                <a:solidFill>
                  <a:srgbClr val="154360"/>
                </a:solidFill>
                <a:latin typeface="Times New Roman"/>
              </a:rPr>
              <a:t>Team ID  –  T-SIH2026-89412</a:t>
            </a:r>
            <a:r>
              <a:rPr sz="1000" b="1">
                <a:solidFill>
                  <a:srgbClr val="8E44AD"/>
                </a:solidFill>
                <a:latin typeface="Times New Roman"/>
              </a:rPr>
              <a:t/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PROPOSED SOLUTION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Problem at Hand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Core Problem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Police &amp; intelligence agencies collect vast crime data across 7 fragmented sources (FIRs, CDRs, Hawala, Surveillance, OSINT, NCRB, NATGRID). Manual correlation is slow, error-prone, and misses hidden criminal networks.</a:t>
            </a:r>
            <a:endParaRPr lang="en-IN"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Gap In Existing Solutions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Legacy forensic &amp; intelligence tools operate in silos, cause 7-30 days lab delays, lack on-scene GNN link prediction, and have zero real-time patrol mesh integration for emergency dispatch.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Scale Of The Problem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Affects 16,000+ police stations, state cyber cells, NIA, NCB, and emergency patrol units dealing with organized syndicates and cross-border crimes nationwide.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900" b="1">
                <a:solidFill>
                  <a:srgbClr val="C0392B"/>
                </a:solidFill>
                <a:latin typeface="Times New Roman"/>
              </a:rPr>
              <a:t>Consequence If Unsolved : 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sz="800" b="0">
                <a:solidFill>
                  <a:srgbClr val="2C3E50"/>
                </a:solidFill>
                <a:latin typeface="Times New Roman"/>
              </a:rPr>
              <a:t>Delayed kingpin identification, fragmented evidence chains, financial hawala channels escaping detection, and fugitive escapes during active investigations.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Our Solution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Concept Diagram — AAROHAN-X ForensiX Tactical Ecosystem</a:t>
            </a:r>
          </a:p>
        </p:txBody>
      </p:sp>
      <p:sp>
        <p:nvSpPr>
          <p:cNvPr id="99" name="Google Shape;99;p16"/>
          <p:cNvSpPr txBox="1"/>
          <p:nvPr/>
        </p:nvSpPr>
        <p:spPr>
          <a:xfrm>
            <a:off x="3154680" y="1577340"/>
            <a:ext cx="236601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FPGA Hardware Write-Blocker + Spectral GCN Network Topology + Dual Dial 100/112 ERSS Mesh</a:t>
            </a:r>
          </a:p>
        </p:txBody>
      </p:sp>
      <p:sp>
        <p:nvSpPr>
          <p:cNvPr id="100" name="Google Shape;100;p16"/>
          <p:cNvSpPr txBox="1"/>
          <p:nvPr/>
        </p:nvSpPr>
        <p:spPr>
          <a:xfrm>
            <a:off x="3154680" y="2057400"/>
            <a:ext cx="23660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>
              <a:defRPr sz="800" b="1">
                <a:solidFill>
                  <a:srgbClr val="154360"/>
                </a:solidFill>
                <a:latin typeface="Times New Roman"/>
              </a:defRPr>
            </a:pPr>
            <a:r>
              <a:t>AI-POWERED CRIMINAL NETWORK ANALYSIS &amp; REAL-TIME TACTICAL TRIAGE ECOSYSTEM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Differentiator 1 — Unified 3-Pillar Ecosystem: Combines on-scene hardware triage, GNN syndicate link prediction, and real-time Dial 100/112 ERSS patrol mesh.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Differentiator 2 — Key Influencer Isolation: Uses Betweenness &amp; Eigenvector Centrality to mathematically pinpoint Kingpins (Rank #1: Vikram Singh @ Cyber-Ghost).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Differentiator 3 — Offline 128D Facial Search: Scans suspect photos &amp; matches vectors against NCRB records in &lt;2s offline (100% DPDP Act 2023 compliant).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-US"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Multi-Source Data Ingestion</a:t>
            </a:r>
            <a:r>
              <a:rPr lang="en-IN" sz="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Ingests FIRs, CDRs, Hawala logs &amp; surveillance in &lt;180s via FPGA Write-Blocker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NLP Entity Extractor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SpaCy NER parses suspects, vehicles, IMEIs &amp; IPC sections in &lt;500ms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Spectral GCN Link Prediction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Graph Neural Network maps syndicate edges with 98.6% link precision</a:t>
            </a: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Kingpin Centrality Ranking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IN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Isolates syndicate leaders via Betweenness Centrality (0.964 score)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Suspicious Pattern Detection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T-GAT flags tower #412 overlaps, hawala smurfing &amp; call bursts</a:t>
            </a:r>
            <a:endParaRPr lang="en-IN"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8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Dual ERSS Emergency Mesh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r>
              <a:rPr lang="en-IN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Auto-routes patrol vans &amp; wakes sleeping officer phone on lockscreen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8366" y="1056133"/>
            <a:ext cx="2818637" cy="151561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TECHNICAL APPROACH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Multi-Source Ingestion &amp; NLP NER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Spectral GCN Link Topology Engine</a:t>
            </a:r>
            <a:endParaRPr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Kingpin Centrality &amp; Face Matching Core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Temporal Pattern Mining &amp; Anomaly Detection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None/>
            </a:pPr>
            <a:r>
              <a:rPr lang="en-IN" sz="1000" b="1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Investigator Insights &amp; Dual Patrol Mesh</a:t>
            </a:r>
            <a:endParaRPr sz="10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Tech Stack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Frontend  : React + Tailwind + Canvas GNN Topology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Backend   : Python + FastAPI + 6 Dedicated REST Endpoints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AI/ML      : PyG GCN Link Engine, T-GAT, SpaCy NER, Hailo NPU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Hardware  : Raspberry Pi 5, FPGA Write-Blocker, 1TB SSD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Connectivity &amp; Security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Network : On-scene local-first operation (100% offline ML &amp; GNN)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Cloud     : Encrypted sync to Central CCTNS/NATGRID Control Room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Security : FPGA write-blocker IC + SHA-256 evidence log (BNS Sec 63)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Product Status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Status: Working Functional Prototype (Tested &amp; Verified)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Built: GNN graph, Kingpin ranking, NLP extractor, 128D face, ERSS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Demo: Live web dashboard (cyber-kit-police.vercel.app)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Working Prototype — Live Monitoring / Demo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 txBox="1"/>
          <p:nvPr/>
        </p:nvSpPr>
        <p:spPr>
          <a:xfrm>
            <a:off x="274320" y="3566160"/>
            <a:ext cx="1645920" cy="1234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1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[ Prototype photo / dashboard screenshot ]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1">
                <a:solidFill>
                  <a:srgbClr val="154360"/>
                </a:solidFill>
                <a:latin typeface="Times New Roman"/>
              </a:rPr>
              <a:t>Live Working Prototype &amp; SIH 189 Highlights:</a:t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Multi-Source Data Ingestion: Ingests all 7 required data sources in real time.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GNN Topology &amp; Kingpin Isolation: 98.6% link precision with Centrality ranking.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Temporal Pattern Mining: Auto-detects tower overlaps &amp; hawala smurfing.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Dual Emergency Dispatch: Auto-routes patrol vans &amp; wakes sleeping officer phone.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pic>
        <p:nvPicPr>
          <p:cNvPr id="188" name="Picture 187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9" name="TextBox 188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50" b="1">
                <a:solidFill>
                  <a:srgbClr val="154360"/>
                </a:solidFill>
                <a:latin typeface="Times New Roman"/>
              </a:rPr>
              <a:t>Live Working Prototype &amp; SIH 189 Highlights:</a:t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Multi-Source Data Ingestion: Ingests all 7 required data sources in real time.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GNN Topology &amp; Kingpin Isolation: 98.6% link precision with Centrality ranking.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Temporal Pattern Mining: Auto-detects tower overlaps &amp; hawala smurfing.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r>
              <a:rPr sz="750" b="1">
                <a:solidFill>
                  <a:srgbClr val="1E8449"/>
                </a:solidFill>
                <a:latin typeface="Times New Roman"/>
              </a:rPr>
              <a:t>• Dual Emergency Dispatch: Auto-routes patrol vans &amp; wakes sleeping officer phone.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Skills available: PyTorch Geometric, FastAPI, React, SpaCy NLP, FPGA C++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C0392B"/>
                </a:solidFill>
                <a:latin typeface="Times New Roman"/>
              </a:rPr>
              <a:t>Risk: Complex multi-source data — mitigated by robust NER &amp; GNN link algorithms.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R="0" lvl="0" algn="l" rtl="0">
              <a:spcBef>
                <a:spcPts val="500"/>
              </a:spcBef>
              <a:spcAft>
                <a:spcPts val="0"/>
              </a:spcAft>
              <a:buClr>
                <a:srgbClr val="1B2631"/>
              </a:buClr>
              <a:buSzPts val="800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Power: Low-power 5V rail gives 8+ hrs field battery life via 10,000mAh pack.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/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AAROHAN-X Tactical Unit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Unit Cost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₹15–30 Lakhs per lab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₹10,000–15,000 (Make in India)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7 to 30 Days lab delay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&lt; 180 Seconds on-scene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Manual paper/whiteboards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Spectral GCN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/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Manual paper logs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SHA-256 Sealed Log (BNS 63)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Maintenance: Modular off-the-shelf components, easy field replacement.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Safety: Human-in-the-loop SP approval &amp; 4-layer anti-prank SOS verification.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E8449"/>
                </a:solidFill>
                <a:latin typeface="Times New Roman"/>
              </a:rPr>
              <a:t>Payback: Low unit cost; payback achieved in single major syndicate bust.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Procurement: Direct police department &amp; MHA procurement (Make in India).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750" b="1">
                <a:solidFill>
                  <a:srgbClr val="154360"/>
                </a:solidFill>
                <a:latin typeface="Times New Roman"/>
              </a:rPr>
              <a:t>Simplicity: Intuitive tactical UI designed for beat constables &amp; investigators.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/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/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Manufacturability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100% off-the-shelf components, CNC casing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Component Sourcing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100% components available in India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Scales across 16,000+ police stations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/>
                        <a:t>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/>
                        <a:t>Working prototype live on GitHub/Vercel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E8449"/>
                </a:solidFill>
                <a:latin typeface="Times New Roman"/>
              </a:rPr>
              <a:t>Emissions: 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>Low-power 5V hardware, zero paper waste.</a:t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00" b="1">
                <a:solidFill>
                  <a:srgbClr val="154360"/>
                </a:solidFill>
                <a:latin typeface="Times New Roman"/>
              </a:rPr>
              <a:t>Policy Alignment: 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>Supports Digital India &amp; Smart Policing missions.</a:t>
            </a:r>
            <a:endParaRPr lang="en-IN"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900" b="1">
                <a:solidFill>
                  <a:srgbClr val="154360"/>
                </a:solidFill>
                <a:latin typeface="Times New Roman"/>
              </a:rPr>
              <a:t>Target Beneficiaries : State Police Departments, Cyber Crime Units, NIA, NCB, Border Checkpoints &amp; 16,000+ police stations nationwide.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356614" y="228534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E8449"/>
                </a:solidFill>
                <a:latin typeface="Times New Roman"/>
              </a:defRPr>
            </a:pPr>
            <a:r>
              <a:t>+85%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411480" y="2599590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faster criminal network discovery (180s vs 30 days)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448726" y="2295267"/>
            <a:ext cx="2054486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154360"/>
                </a:solidFill>
                <a:latin typeface="Times New Roman"/>
              </a:defRPr>
            </a:pPr>
            <a:r>
              <a:t>₹ 25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8260" y="2589712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cost saved per police sub-division annually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588930" y="2300941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8E44AD"/>
                </a:solidFill>
                <a:latin typeface="Times New Roman"/>
              </a:defRPr>
            </a:pPr>
            <a:r>
              <a:t>16,000+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678417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police stations &amp; patrol units empowered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32901" y="2293266"/>
            <a:ext cx="2054485" cy="445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1800" b="1">
                <a:solidFill>
                  <a:srgbClr val="C0392B"/>
                </a:solidFill>
                <a:latin typeface="Times New Roman"/>
              </a:defRPr>
            </a:pPr>
            <a:r>
              <a:t>&lt; 90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844830" y="2571015"/>
            <a:ext cx="1917325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0">
                <a:solidFill>
                  <a:srgbClr val="2C3E50"/>
                </a:solidFill>
                <a:latin typeface="Times New Roman"/>
              </a:defRPr>
            </a:pPr>
            <a:r>
              <a:t>patrol arrival for Dial 100/112 ERSS alerts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50" b="1">
                <a:solidFill>
                  <a:srgbClr val="1E8449"/>
                </a:solidFill>
                <a:latin typeface="Times New Roman"/>
              </a:rPr>
              <a:t>Social Impact : Protects citizens by dismantling organized crime syndicates faster and auto-dispatching patrol units to distress calls in under 90 seconds.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Builds public trust through transparent, tamper-proof SHA-256 evidence logs.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Economic Impact : Eliminates recurring proprietary lab software licenses, saving hundreds of crores annually for law enforcement agencies.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Cuts investigation costs through automated multi-source data correlation on-scene.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sz="850" b="1">
                <a:solidFill>
                  <a:srgbClr val="1E8449"/>
                </a:solidFill>
                <a:latin typeface="Times New Roman"/>
              </a:rPr>
              <a:t>Environmental Impact : Low-power 5V hardware, zero paper case file waste, reduces vehicle transit emissions for physical evidence transport.</a:t>
            </a:r>
            <a:r>
              <a:rPr sz="80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114300" marR="0" lvl="0" indent="-1143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800"/>
              <a:buFont typeface="Calibri"/>
              <a:buChar char="•"/>
            </a:pPr>
            <a:r>
              <a:rPr lang="en-US" sz="800" b="0" i="0" u="none" strike="noStrike" cap="none" dirty="0">
                <a:solidFill>
                  <a:schemeClr val="dk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Reduces physical evidence transport, cutting related carbon emissions.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IN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IN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lang="en-US" sz="900" b="0" i="0" u="none" strike="noStrike" cap="none" dirty="0">
                <a:solidFill>
                  <a:schemeClr val="bg1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Digital Personal Data Protection (DPDP) Act 2023 compliance (128D vectors only)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</a:pPr>
            <a:r>
              <a:rPr lang="en-IN" sz="1100" b="1" dirty="0">
                <a:solidFill>
                  <a:srgbClr val="196F3D"/>
                </a:solidFill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  <a:sym typeface="Calibri"/>
              </a:rPr>
              <a:t>AAROHAN-X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AAROHAN-X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1. Bureau of Police Research &amp; Development (BPR&amp;D) — Smart Policing Directives &amp; AI Crime Analysis Guidelines (2024).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2. Ministry of Home Affairs, Govt. of India — Bharatiya Nyaya Sanhita (BNS 2023 / Sec 63 Electronic Evidence), effective July 1, 2024.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3. Kipf, T. N., &amp; Welling, M. — Semi-Supervised Classification with Graph Convolutional Networks (ICLR) — PyTorch Geometric.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</a:p>
          <a:p>
            <a:pPr marL="222250" marR="0" lvl="0" indent="-228600" algn="l" rtl="0">
              <a:spcBef>
                <a:spcPts val="0"/>
              </a:spcBef>
              <a:spcAft>
                <a:spcPts val="0"/>
              </a:spcAft>
              <a:buClr>
                <a:srgbClr val="1B2631"/>
              </a:buClr>
              <a:buSzPts val="900"/>
              <a:buFont typeface="+mj-lt"/>
              <a:buAutoNum type="arabicPeriod"/>
            </a:pPr>
            <a:r>
              <a:rPr sz="850" b="1">
                <a:solidFill>
                  <a:srgbClr val="154360"/>
                </a:solidFill>
                <a:latin typeface="Times New Roman"/>
              </a:rPr>
              <a:t>4. National Crime Records Bureau (NCRB) — CCTNS 2.0 Schema &amp; ERSS Dial 112 Real-Time Dispatch Protocols.</a:t>
            </a:r>
            <a:r>
              <a:rPr sz="850" b="0">
                <a:solidFill>
                  <a:srgbClr val="2C3E50"/>
                </a:solidFill>
                <a:latin typeface="Times New Roman"/>
              </a:rPr>
              <a:t/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sz="850" b="1">
                <a:solidFill>
                  <a:srgbClr val="154360"/>
                </a:solidFill>
                <a:latin typeface="Times New Roman"/>
              </a:rPr>
              <a:t>[ 1 ) Full Documentation — github.com/muhammedmaahir68-droid/cyber-kit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[ 2 ) Live Deployed Web App — cyber-kit-police.vercel.app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[ 3 ) Cloud FastAPI Backend — /api/v1/criminal-network/* endpoints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[ 4 ) Hardware Blueprint — ForensiX Tactical Unit (Make in India)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[ 5 ) Interactive Demo — GNN Topology &amp; Dual SOS Siren ]</a:t>
            </a:r>
          </a:p>
          <a:p>
            <a:r>
              <a:rPr sz="850" b="1">
                <a:solidFill>
                  <a:srgbClr val="154360"/>
                </a:solidFill>
                <a:latin typeface="Times New Roman"/>
              </a:rPr>
              <a:t>[ 6 ) SIH Problem Statement — sih.gov.in (PS 189 - BPR&amp;D / MHA) ]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