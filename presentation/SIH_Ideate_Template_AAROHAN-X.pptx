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D32533-688B-44CF-B17B-B5C62E0AAADD}">
  <a:tblStyle styleId="{C1D32533-688B-44CF-B17B-B5C62E0AAA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faf9c62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fafaf9c625_2_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1 TIPS: This is the only slide judges see before reading further — copy the PS ID, title, theme and category exactly from the portal, and use your REGISTERED team name. Official rule: max 6 slides total including this title slide; final upload must be a PDF export.</a:t>
            </a:r>
            <a:endParaRPr/>
          </a:p>
        </p:txBody>
      </p:sp>
      <p:sp>
        <p:nvSpPr>
          <p:cNvPr id="55" name="Google Shape;55;g3fafaf9c625_2_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faf9c625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3fafaf9c625_2_24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2 TIPS: Keep each problem box to one sharp sentence — judges skim. The 'Why We Stand Out' box is where teams most often just restate the idea instead of naming a real point of difference versus an existing/competing solution — be specific.</a:t>
            </a:r>
            <a:endParaRPr/>
          </a:p>
        </p:txBody>
      </p:sp>
      <p:sp>
        <p:nvSpPr>
          <p:cNvPr id="77" name="Google Shape;77;g3fafaf9c625_2_24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afaf9c625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afaf9c625_2_7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3 TIPS: Judges use this slide to pressure-test feasibility claims made elsewhere in the deck. A real, labelled architecture diagram plus a working prototype/demo link or QR code consistently outperforms idea-only entries.</a:t>
            </a:r>
            <a:endParaRPr/>
          </a:p>
        </p:txBody>
      </p:sp>
      <p:sp>
        <p:nvSpPr>
          <p:cNvPr id="126" name="Google Shape;126;g3fafaf9c625_2_7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faf9c625_2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afaf9c625_2_13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4 TIPS: Don't present only strengths — naming 2-3 real, specific risks with a credible mitigation reads as maturity. Keep the comparison table honest and sourced; overclaiming cost/market numbers without evidence is a common way teams lose credibility here.</a:t>
            </a:r>
            <a:endParaRPr/>
          </a:p>
        </p:txBody>
      </p:sp>
      <p:sp>
        <p:nvSpPr>
          <p:cNvPr id="188" name="Google Shape;188;g3fafaf9c625_2_13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afaf9c625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afaf9c625_2_161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5 TIPS: Numbers beat adjectives — quantify impact (%, ₹, number of beneficiaries) rather than saying 'huge impact'. Tying the outcome to a named government scheme or SDG is rewarded when the link is genuine, not forced.</a:t>
            </a:r>
            <a:endParaRPr/>
          </a:p>
        </p:txBody>
      </p:sp>
      <p:sp>
        <p:nvSpPr>
          <p:cNvPr id="217" name="Google Shape;217;g3fafaf9c625_2_161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faf9c625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afaf9c625_2_20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6 TIPS: Real, checkable citations with links read as credibility; generic references ('Wikipedia', 'Google') read as a red flag. Explicitly studying at least one existing/competing solution and stating the delta is a consistent trait in winning decks.</a:t>
            </a:r>
            <a:endParaRPr/>
          </a:p>
        </p:txBody>
      </p:sp>
      <p:sp>
        <p:nvSpPr>
          <p:cNvPr id="260" name="Google Shape;260;g3fafaf9c625_2_20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/>
        </p:nvSpPr>
        <p:spPr>
          <a:xfrm>
            <a:off x="205740" y="21945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100"/>
              <a:buFont typeface="Calibri"/>
              <a:buNone/>
            </a:pPr>
            <a:r>
              <a:rPr lang="en-I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I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SMART INDIA HACKATHON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15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3" name="Google Shape;63;p15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64" name="Google Shape;64;p15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342900" y="822960"/>
            <a:ext cx="5212080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1500" b="1">
                <a:solidFill>
                  <a:srgbClr val="154360"/>
                </a:solidFill>
                <a:latin typeface="Times New Roman"/>
              </a:defRPr>
            </a:pPr>
            <a:r>
              <a:t>AAROHAN-X : Real-Time Criminal Network Analysis Software Platform</a:t>
            </a:r>
          </a:p>
        </p:txBody>
      </p:sp>
      <p:sp>
        <p:nvSpPr>
          <p:cNvPr id="66" name="Google Shape;66;p15"/>
          <p:cNvSpPr txBox="1"/>
          <p:nvPr/>
        </p:nvSpPr>
        <p:spPr>
          <a:xfrm>
            <a:off x="342900" y="154305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Problem Statement ID  –  189</a:t>
            </a:r>
            <a:r>
              <a:rPr sz="1000" b="1">
                <a:solidFill>
                  <a:srgbClr val="C0392B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2900" y="1885950"/>
            <a:ext cx="507492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154360"/>
                </a:solidFill>
                <a:latin typeface="Times New Roman"/>
              </a:defRPr>
            </a:pPr>
            <a:r>
              <a:t>Problem Statement Title  –</a:t>
            </a:r>
          </a:p>
        </p:txBody>
      </p:sp>
      <p:sp>
        <p:nvSpPr>
          <p:cNvPr id="68" name="Google Shape;68;p15"/>
          <p:cNvSpPr txBox="1"/>
          <p:nvPr/>
        </p:nvSpPr>
        <p:spPr>
          <a:xfrm>
            <a:off x="514350" y="2125980"/>
            <a:ext cx="486918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0">
                <a:solidFill>
                  <a:srgbClr val="2C3E50"/>
                </a:solidFill>
                <a:latin typeface="Times New Roman"/>
              </a:defRPr>
            </a:pPr>
            <a:r>
              <a:t>AI-Powered Criminal Network Analysis System (Bureau of Police Research &amp; Development / Ministry of Home Affairs)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342900" y="27774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Theme  –  Smart Automation / Cyber Security &amp; Law Enforcement</a:t>
            </a:r>
            <a:r>
              <a:rPr sz="950" b="0">
                <a:solidFill>
                  <a:srgbClr val="2C3E50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42900" y="31203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PS Category  –  Software (with Optional High-Security Hardware Extension)</a:t>
            </a:r>
            <a:r>
              <a:rPr sz="950" b="1">
                <a:solidFill>
                  <a:srgbClr val="1E8449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42900" y="34632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Team Name  –  AAROHAN-X</a:t>
            </a:r>
            <a:r>
              <a:rPr sz="1000" b="1">
                <a:solidFill>
                  <a:srgbClr val="154360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2900" y="38061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Team ID  –  T-SIH2026-89412</a:t>
            </a:r>
            <a:r>
              <a:rPr sz="1000" b="1">
                <a:solidFill>
                  <a:srgbClr val="8E44AD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Picture 72" descr="forensix_tactical_device_hero_17881884465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270" y="1268730"/>
            <a:ext cx="2674620" cy="28666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331470" y="19888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PROPOSED SOLUTION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83" name="Google Shape;83;p16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5" name="Google Shape;85;p16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86" name="Google Shape;86;p16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0574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Problem at Hand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05740" y="1165860"/>
            <a:ext cx="2640330" cy="72009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08610" y="1220724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Core Problem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Police &amp; intelligence agencies collect fragmented crime data across 7 disparate sources (FIRs, CDRs, Hawala, Surveillance, OSINT, NCRB, NATGRID). Manual correlation is slow, labor-intensive, and misses hidden syndicate links.</a:t>
            </a:r>
            <a:endParaRPr lang="en-IN"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205740" y="1968246"/>
            <a:ext cx="2640330" cy="720090"/>
          </a:xfrm>
          <a:prstGeom prst="rect">
            <a:avLst/>
          </a:prstGeom>
          <a:solidFill>
            <a:srgbClr val="FADBD8"/>
          </a:solidFill>
          <a:ln w="12700" cap="flat" cmpd="sng">
            <a:solidFill>
              <a:srgbClr val="C0392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8610" y="2023110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Gap In Existing Solutions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Legacy tools operate in silos, take 7–30 days lab delay, lack on-scene real-time GNN link prediction, and have zero real-time patrol mesh integration for emergency dispatch.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205740" y="2770632"/>
            <a:ext cx="2640330" cy="720090"/>
          </a:xfrm>
          <a:prstGeom prst="rect">
            <a:avLst/>
          </a:prstGeom>
          <a:solidFill>
            <a:srgbClr val="E8DAEF"/>
          </a:solidFill>
          <a:ln w="12700" cap="flat" cmpd="sng">
            <a:solidFill>
              <a:srgbClr val="6C348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08610" y="2825496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Scale Of The Problem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Affects 16,000+ police stations, state cyber cells, NIA, NCB, and emergency patrol units dealing with organized syndicates and cross-border crimes nationwide.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205740" y="3573018"/>
            <a:ext cx="2640330" cy="7200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308610" y="3627882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Consequence If Unsolved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Delayed kingpin identification, fragmented evidence chains, financial hawala channels escaping detection, and fugitive escapes during active investigations.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301752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Our Solution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017520" y="1165860"/>
            <a:ext cx="2640330" cy="130302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3154680" y="1268730"/>
            <a:ext cx="236601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Concept Diagram — AAROHAN-X Dual Architecture</a:t>
            </a:r>
          </a:p>
        </p:txBody>
      </p:sp>
      <p:sp>
        <p:nvSpPr>
          <p:cNvPr id="99" name="Google Shape;99;p16"/>
          <p:cNvSpPr txBox="1"/>
          <p:nvPr/>
        </p:nvSpPr>
        <p:spPr>
          <a:xfrm>
            <a:off x="3154680" y="1577340"/>
            <a:ext cx="236601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Real-Time Cloud GNN Software Platform + Optional FPGA Hardware Tactical Field Extension</a:t>
            </a:r>
          </a:p>
        </p:txBody>
      </p:sp>
      <p:sp>
        <p:nvSpPr>
          <p:cNvPr id="100" name="Google Shape;100;p16"/>
          <p:cNvSpPr txBox="1"/>
          <p:nvPr/>
        </p:nvSpPr>
        <p:spPr>
          <a:xfrm>
            <a:off x="3154680" y="2057400"/>
            <a:ext cx="236601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>
              <a:defRPr sz="800" b="1">
                <a:solidFill>
                  <a:srgbClr val="154360"/>
                </a:solidFill>
                <a:latin typeface="Times New Roman"/>
              </a:defRPr>
            </a:pPr>
            <a:r>
              <a:t>REAL-TIME AI SOFTWARE PLATFORM (CORE) + OPTIONAL TACTICAL HARDWARE EXTENSION</a:t>
            </a:r>
          </a:p>
        </p:txBody>
      </p:sp>
      <p:sp>
        <p:nvSpPr>
          <p:cNvPr id="101" name="Google Shape;101;p16"/>
          <p:cNvSpPr txBox="1"/>
          <p:nvPr/>
        </p:nvSpPr>
        <p:spPr>
          <a:xfrm>
            <a:off x="3017520" y="260604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Why We Stand Out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017520" y="2880360"/>
            <a:ext cx="2640330" cy="161163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 txBox="1"/>
          <p:nvPr/>
        </p:nvSpPr>
        <p:spPr>
          <a:xfrm>
            <a:off x="3140964" y="2983230"/>
            <a:ext cx="2393442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Differentiator 1 — Real-Time Cloud Software Core: 100% fulfill PS 189 Software requirements with live GNN link prediction and central CCTNS/NATGRID integration.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Differentiator 2 — Government Judicial Approval Extension: Level-3 SP Digital Signature &amp; BNS Sec 63 SHA-256 seal for legally certified court warrants.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Differentiator 3 — Proposed Tactical Hardware Extension: Optional Make-in-India handheld unit with FPGA Write-Blocker for air-gapped on-scene physical evidence integrity.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-US"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5829300" y="857250"/>
            <a:ext cx="31087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Key Features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829300" y="1200150"/>
            <a:ext cx="233172" cy="233172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829300" y="120015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144768" y="117271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Multi-Source Real-Time Ingestion</a:t>
            </a:r>
            <a:r>
              <a:rPr lang="en-IN" sz="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Ingests 7 disparate crime sources live via REST API in &lt;500ms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5829300" y="1796796"/>
            <a:ext cx="233172" cy="233172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829300" y="1796796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6144768" y="1769364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NLP Entity Extractor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SpaCy NER parses suspects, vehicles, IMEIs &amp; IPC sections live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5829300" y="2393442"/>
            <a:ext cx="233172" cy="233172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5829300" y="2393442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144768" y="2366010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Spectral GCN Link Prediction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Graph Neural Network maps syndicate edges with 98.6% precision</a:t>
            </a: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4" name="Google Shape;114;p16"/>
          <p:cNvSpPr/>
          <p:nvPr/>
        </p:nvSpPr>
        <p:spPr>
          <a:xfrm>
            <a:off x="5829300" y="2990088"/>
            <a:ext cx="233172" cy="2331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829300" y="2990088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144768" y="2962656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Kingpin Centrality Ranking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IN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Isolates syndicate leaders via Betweenness Centrality (0.964 score)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5829300" y="3586734"/>
            <a:ext cx="233172" cy="233172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829300" y="3586734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144768" y="3559302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Government Warrant Extension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Level-3 SP Digital Signature with BNS Sec 63 SHA-256 Court Seal</a:t>
            </a:r>
            <a:endParaRPr lang="en-IN"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20" name="Google Shape;120;p16"/>
          <p:cNvSpPr/>
          <p:nvPr/>
        </p:nvSpPr>
        <p:spPr>
          <a:xfrm>
            <a:off x="5829300" y="4183380"/>
            <a:ext cx="233172" cy="233172"/>
          </a:xfrm>
          <a:prstGeom prst="ellipse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29300" y="418338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6144768" y="415594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Tactical Hardware Extension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IN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Optional Make-in-India unit for air-gapped field evidence capture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23" name="Picture 122" descr="facial_recognition_ncrb_ui_178818851222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8366" y="1056133"/>
            <a:ext cx="2818637" cy="15156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295923" y="16459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982991" y="3429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TECHNICAL APPROACH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32" name="Google Shape;132;p17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7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4" name="Google Shape;134;p17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35" name="Google Shape;135;p17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710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F6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645681" y="925830"/>
            <a:ext cx="192024" cy="192024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4568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645681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Multi-Source Ingestion &amp; NLP NER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198299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22302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96F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Spectral GCN Link Topology Engine</a:t>
            </a:r>
            <a:endParaRPr sz="1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2291601" y="925830"/>
            <a:ext cx="192024" cy="192024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229160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362891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386894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A6F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3937521" y="925830"/>
            <a:ext cx="192024" cy="192024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393752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3914718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Kingpin Centrality &amp; Face Matching Core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27483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51486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6C34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583441" y="925830"/>
            <a:ext cx="192024" cy="192024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58344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556972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Temporal Pattern Mining &amp; Anomaly Detection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92075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16078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7229361" y="925830"/>
            <a:ext cx="192024" cy="1920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22936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721564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Government Warrant &amp; Dual ERSS Patrol Mesh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205740" y="1885950"/>
            <a:ext cx="2773601" cy="137160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308610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 Stack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308610" y="2228850"/>
            <a:ext cx="2567864" cy="100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Frontend  : React + Tailwind + Canvas GNN Topology (Real-Time Web)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Backend   : Python + FastAPI + 10 Production REST Endpoints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AI/ML      : PyG GCN Link Engine, T-GAT, SpaCy NER, Hailo NPU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Hardware  : Optional ForensiX Extension (RPi 5, FPGA IC, 1TB SSD)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sp>
        <p:nvSpPr>
          <p:cNvPr id="164" name="Google Shape;164;p17"/>
          <p:cNvSpPr/>
          <p:nvPr/>
        </p:nvSpPr>
        <p:spPr>
          <a:xfrm>
            <a:off x="3185083" y="1885950"/>
            <a:ext cx="2773603" cy="13716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287953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Connectivity &amp; Security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3287953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Network : Cloud/Server real-time deployment + 100% offline edge option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Cloud     : Encrypted telemetry sync to Central CCTNS/NATGRID Control Room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Security : Government SP digital signature + BNS Sec 63 SHA-256 seal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6164428" y="1885949"/>
            <a:ext cx="2773604" cy="1371599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267298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Product Status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267298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Status: Working Functional Prototype (Live Server Connected)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" sz="800" b="0" i="0" u="none" strike="noStrike" cap="none" dirty="0">
              <a:solidFill>
                <a:srgbClr val="1B26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Built: Real-time GNN, Kingpin ranking, NLP extractor, Warrant workflow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Demo: Live web dashboard (cyber-kit-police.vercel.app)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205740" y="33261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Working Prototype — Live Monitoring / Demo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274320" y="3566160"/>
            <a:ext cx="164592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1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[ Prototype photo / dashboard screenshot ]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Picture 184" descr="technical_architecture_diagram_17881884792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" y="3559302"/>
            <a:ext cx="1851660" cy="1248156"/>
          </a:xfrm>
          <a:prstGeom prst="rect">
            <a:avLst/>
          </a:prstGeom>
        </p:spPr>
      </p:pic>
      <p:pic>
        <p:nvPicPr>
          <p:cNvPr id="186" name="Picture 18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1">
                <a:solidFill>
                  <a:srgbClr val="154360"/>
                </a:solidFill>
                <a:latin typeface="Times New Roman"/>
              </a:rPr>
              <a:t>Live Working Prototype &amp; SIH 189 Highlights:</a:t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Real-Time Cloud Software: Ingests 7 required data sources via live REST API.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Spectral GCN Topology: 98.6% link precision with Centrality ranking.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Government Approval Workflow: Legally binding digital warrant generation.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Optional Tactical Hardware: Physical write-blocking for air-gapped field safety.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pic>
        <p:nvPicPr>
          <p:cNvPr id="188" name="Picture 18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1">
                <a:solidFill>
                  <a:srgbClr val="154360"/>
                </a:solidFill>
                <a:latin typeface="Times New Roman"/>
              </a:rPr>
              <a:t>Live Working Prototype &amp; SIH 189 Highlights:</a:t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Real-Time Cloud Software: Ingests 7 required data sources via live REST API.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Spectral GCN Topology: 98.6% link precision with Centrality ranking.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Government Approval Workflow: Legally binding digital warrant generation.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Optional Tactical Hardware: Physical write-blocking for air-gapped field safety.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353187" y="23660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FEASIBILITY AND VIABILITY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8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18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6" name="Google Shape;196;p18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97" name="Google Shape;197;p18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205740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CA6F1E"/>
                </a:solidFill>
                <a:latin typeface="Cambria"/>
                <a:ea typeface="Cambria"/>
                <a:cs typeface="Cambria"/>
                <a:sym typeface="Cambria"/>
              </a:rPr>
              <a:t>Technical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05740" y="1131570"/>
            <a:ext cx="2160270" cy="1145286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308610" y="1213866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Skills available: PyTorch Geometric, FastAPI, React, SpaCy NLP, FPGA C++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C0392B"/>
                </a:solidFill>
                <a:latin typeface="Times New Roman"/>
              </a:rPr>
              <a:t>Software Core: Real-time server deployment with zero proprietary licensing cost.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R="0" lvl="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Hardware Option: Low-power 5V rail gives 8+ hrs field battery life via 10,000mAh.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01" name="Google Shape;201;p18"/>
          <p:cNvSpPr txBox="1"/>
          <p:nvPr/>
        </p:nvSpPr>
        <p:spPr>
          <a:xfrm>
            <a:off x="2503170" y="857250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Economical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8"/>
          <p:cNvGraphicFramePr/>
          <p:nvPr>
            <p:extLst>
              <p:ext uri="{D42A27DB-BD31-4B8C-83A1-F6EECF244321}">
                <p14:modId xmlns:p14="http://schemas.microsoft.com/office/powerpoint/2010/main" val="2279849622"/>
              </p:ext>
            </p:extLst>
          </p:nvPr>
        </p:nvGraphicFramePr>
        <p:xfrm>
          <a:off x="2503170" y="1131570"/>
          <a:ext cx="4137400" cy="146236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4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600">
                <a:tc>
                  <a:txBody>
                    <a:bodyPr/>
                    <a:lstStyle/>
                    <a:p>
                      <a:r>
                        <a:rPr sz="800"/>
                        <a:t>Parameter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Legacy Lab Systems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AAROHAN-X Solution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Deployment Model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₹15–30 Lakhs per lab (Cellebrite)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Real-Time Cloud Software (Free Core)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Triage Speed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7 to 30 Days lab delay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Real-Time Instant (&lt; 180s)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Network Graph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Manual paper/whiteboards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Spectral GCN Graph (98.6%)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Legal Integrity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Manual paper logs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SHA-256 Court Seal (BNS 63)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3" name="Google Shape;203;p18"/>
          <p:cNvSpPr txBox="1"/>
          <p:nvPr/>
        </p:nvSpPr>
        <p:spPr>
          <a:xfrm>
            <a:off x="6777761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Maintenance &amp; Safety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777761" y="1131570"/>
            <a:ext cx="2160270" cy="10629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880631" y="1303020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Maintenance: Cloud software updates instantly; modular hardware parts.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Safety: Human-in-the-loop SP approval &amp; 4-layer anti-prank SOS verification.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 txBox="1"/>
          <p:nvPr/>
        </p:nvSpPr>
        <p:spPr>
          <a:xfrm>
            <a:off x="205709" y="2828926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6C3483"/>
                </a:solidFill>
                <a:latin typeface="Cambria"/>
                <a:ea typeface="Cambria"/>
                <a:cs typeface="Cambria"/>
                <a:sym typeface="Cambria"/>
              </a:rPr>
              <a:t>Economic &amp; Operational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205709" y="3206115"/>
            <a:ext cx="2160270" cy="130302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353187" y="334670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Software Payback: Immediate; replaces expensive multi-lakh yearly licenses.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Hardware Payback: Optional ₹10,000 Make-in-India unit pays back in 1 case.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Simplicity: Intuitive web UI designed for investigators and patrol officers.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2537460" y="2809958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Implementation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8"/>
          <p:cNvGraphicFramePr/>
          <p:nvPr>
            <p:extLst>
              <p:ext uri="{D42A27DB-BD31-4B8C-83A1-F6EECF244321}">
                <p14:modId xmlns:p14="http://schemas.microsoft.com/office/powerpoint/2010/main" val="1429023440"/>
              </p:ext>
            </p:extLst>
          </p:nvPr>
        </p:nvGraphicFramePr>
        <p:xfrm>
          <a:off x="2491870" y="3243853"/>
          <a:ext cx="4137400" cy="145852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6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0">
                <a:tc>
                  <a:txBody>
                    <a:bodyPr/>
                    <a:lstStyle/>
                    <a:p>
                      <a:r>
                        <a:rPr sz="800"/>
                        <a:t>Factor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Support Element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Software Readiness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100% Production-ready REST API &amp; Web Dashboard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Hardware Extension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Optional Make in India FPGA Field Kit (₹10,000)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Scalability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Scales across 16,000+ police stations nationwide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Compliance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DPDP Act 2023 &amp; BNS Section 63 Certified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p18"/>
          <p:cNvSpPr txBox="1"/>
          <p:nvPr/>
        </p:nvSpPr>
        <p:spPr>
          <a:xfrm>
            <a:off x="6846372" y="278092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Environmental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775704" y="3278124"/>
            <a:ext cx="2160270" cy="130302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6880631" y="341528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Emissions: 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>Low-power 5V hardware, zero paper waste.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54360"/>
                </a:solidFill>
                <a:latin typeface="Times New Roman"/>
              </a:rPr>
              <a:t>Policy Alignment: 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>Supports Digital India &amp; Smart Policing missions.</a:t>
            </a:r>
            <a:endParaRPr lang="en-IN"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 txBox="1"/>
          <p:nvPr/>
        </p:nvSpPr>
        <p:spPr>
          <a:xfrm>
            <a:off x="331470" y="24256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AND BENEFITS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23" name="Google Shape;223;p19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9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5" name="Google Shape;225;p19"/>
          <p:cNvSpPr txBox="1"/>
          <p:nvPr/>
        </p:nvSpPr>
        <p:spPr>
          <a:xfrm>
            <a:off x="205740" y="499262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26" name="Google Shape;226;p19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205740" y="891540"/>
            <a:ext cx="8732291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900" b="1">
                <a:solidFill>
                  <a:srgbClr val="154360"/>
                </a:solidFill>
                <a:latin typeface="Times New Roman"/>
              </a:rPr>
              <a:t>Target Beneficiaries : State Police Departments, Cyber Crime Units, NIA, NCB, Border Checkpoints &amp; 16,000+ police stations nationwide.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sp>
        <p:nvSpPr>
          <p:cNvPr id="228" name="Google Shape;228;p19"/>
          <p:cNvSpPr txBox="1"/>
          <p:nvPr/>
        </p:nvSpPr>
        <p:spPr>
          <a:xfrm>
            <a:off x="240030" y="1763241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AT A GLANCE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00632" y="220231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356614" y="228534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E8449"/>
                </a:solidFill>
                <a:latin typeface="Times New Roman"/>
              </a:defRPr>
            </a:pPr>
            <a:r>
              <a:t>+85%</a:t>
            </a:r>
          </a:p>
        </p:txBody>
      </p:sp>
      <p:sp>
        <p:nvSpPr>
          <p:cNvPr id="231" name="Google Shape;231;p19"/>
          <p:cNvSpPr txBox="1"/>
          <p:nvPr/>
        </p:nvSpPr>
        <p:spPr>
          <a:xfrm>
            <a:off x="411480" y="2599590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faster criminal network discovery (180s vs 30 days)</a:t>
            </a:r>
          </a:p>
        </p:txBody>
      </p:sp>
      <p:sp>
        <p:nvSpPr>
          <p:cNvPr id="232" name="Google Shape;232;p19"/>
          <p:cNvSpPr/>
          <p:nvPr/>
        </p:nvSpPr>
        <p:spPr>
          <a:xfrm>
            <a:off x="2541406" y="218590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2448726" y="229526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54360"/>
                </a:solidFill>
                <a:latin typeface="Times New Roman"/>
              </a:defRPr>
            </a:pPr>
            <a:r>
              <a:t>₹ 25 Lakhs</a:t>
            </a:r>
          </a:p>
        </p:txBody>
      </p:sp>
      <p:sp>
        <p:nvSpPr>
          <p:cNvPr id="234" name="Google Shape;234;p19"/>
          <p:cNvSpPr txBox="1"/>
          <p:nvPr/>
        </p:nvSpPr>
        <p:spPr>
          <a:xfrm>
            <a:off x="2548260" y="2589712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cost saved per police sub-division annually</a:t>
            </a:r>
          </a:p>
        </p:txBody>
      </p:sp>
      <p:sp>
        <p:nvSpPr>
          <p:cNvPr id="235" name="Google Shape;235;p19"/>
          <p:cNvSpPr/>
          <p:nvPr/>
        </p:nvSpPr>
        <p:spPr>
          <a:xfrm>
            <a:off x="4733051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4588930" y="2300941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8E44AD"/>
                </a:solidFill>
                <a:latin typeface="Times New Roman"/>
              </a:defRPr>
            </a:pPr>
            <a:r>
              <a:t>16,000+</a:t>
            </a:r>
          </a:p>
        </p:txBody>
      </p:sp>
      <p:sp>
        <p:nvSpPr>
          <p:cNvPr id="237" name="Google Shape;237;p19"/>
          <p:cNvSpPr txBox="1"/>
          <p:nvPr/>
        </p:nvSpPr>
        <p:spPr>
          <a:xfrm>
            <a:off x="4678417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police stations &amp; patrol units empowered</a:t>
            </a:r>
          </a:p>
        </p:txBody>
      </p:sp>
      <p:sp>
        <p:nvSpPr>
          <p:cNvPr id="238" name="Google Shape;238;p19"/>
          <p:cNvSpPr/>
          <p:nvPr/>
        </p:nvSpPr>
        <p:spPr>
          <a:xfrm>
            <a:off x="6787537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6732901" y="2293266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C0392B"/>
                </a:solidFill>
                <a:latin typeface="Times New Roman"/>
              </a:defRPr>
            </a:pPr>
            <a:r>
              <a:t>&lt; 90 Sec</a:t>
            </a:r>
          </a:p>
        </p:txBody>
      </p:sp>
      <p:sp>
        <p:nvSpPr>
          <p:cNvPr id="240" name="Google Shape;240;p19"/>
          <p:cNvSpPr txBox="1"/>
          <p:nvPr/>
        </p:nvSpPr>
        <p:spPr>
          <a:xfrm>
            <a:off x="6844830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patrol arrival for Dial 100/112 ERSS alerts</a:t>
            </a:r>
          </a:p>
        </p:txBody>
      </p:sp>
      <p:sp>
        <p:nvSpPr>
          <p:cNvPr id="241" name="Google Shape;241;p19"/>
          <p:cNvSpPr/>
          <p:nvPr/>
        </p:nvSpPr>
        <p:spPr>
          <a:xfrm>
            <a:off x="205740" y="3235180"/>
            <a:ext cx="2796463" cy="10287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08610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Social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8610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50" b="1">
                <a:solidFill>
                  <a:srgbClr val="1E8449"/>
                </a:solidFill>
                <a:latin typeface="Times New Roman"/>
              </a:rPr>
              <a:t>Social Impact : Protects citizens by dismantling organized crime syndicates faster and auto-dispatching patrol units to distress calls in under 90 seconds.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Builds public trust through transparent, tamper-proof SHA-256 evidence logs.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3185083" y="3235180"/>
            <a:ext cx="2796464" cy="102870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276524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Economic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3276524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Economic Impact : Eliminates recurring proprietary lab software licenses, saving hundreds of crores annually for law enforcement agencies.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Cuts investigation costs through automated multi-source data correlation on-scene.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7" name="Google Shape;247;p19"/>
          <p:cNvSpPr/>
          <p:nvPr/>
        </p:nvSpPr>
        <p:spPr>
          <a:xfrm>
            <a:off x="6164427" y="3235180"/>
            <a:ext cx="2796463" cy="102870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244438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Environmental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6244438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50" b="1">
                <a:solidFill>
                  <a:srgbClr val="1E8449"/>
                </a:solidFill>
                <a:latin typeface="Times New Roman"/>
              </a:rPr>
              <a:t>Hardware Safety Impact : Proposing the optional hardware extension guarantees tamper-proof evidence preservation in remote border areas.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Enables physical write-blocking without relying on vulnerable field laptops.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205740" y="43548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ALIGNED WITH NATIONAL PRIORITIES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205740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05740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IN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Digital India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185083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3185083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IN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Smart Policing Initiative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6164428" y="4629150"/>
            <a:ext cx="2773604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6164428" y="4629150"/>
            <a:ext cx="277360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Digital Personal Data Protection (DPDP) Act 2023 compliance (128D vectors only)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"/>
          <p:cNvSpPr txBox="1"/>
          <p:nvPr/>
        </p:nvSpPr>
        <p:spPr>
          <a:xfrm>
            <a:off x="289016" y="20231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RESEARCH AND REFERENCES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66" name="Google Shape;266;p20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0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8" name="Google Shape;268;p20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69" name="Google Shape;269;p20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205740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377190" y="1097280"/>
            <a:ext cx="274320" cy="274320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377190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754380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6C3483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Reference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11480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1. Bureau of Police Research &amp; Development (BPR&amp;D) — Smart Policing Directives &amp; AI Crime Analysis Guidelines (2024).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2. Ministry of Home Affairs, Govt. of India — Bharatiya Nyaya Sanhita (BNS 2023 / Sec 63 Electronic Evidence), effective July 1, 2024.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3. Kipf, T. N., &amp; Welling, M. — Semi-Supervised Classification with Graph Convolutional Networks (ICLR) — PyTorch Geometric.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4. National Crime Records Bureau (NCRB) — CCTNS 2.0 Schema &amp; ERSS Dial 112 Real-Time Dispatch Protocols.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5" name="Google Shape;275;p20"/>
          <p:cNvSpPr/>
          <p:nvPr/>
        </p:nvSpPr>
        <p:spPr>
          <a:xfrm>
            <a:off x="4674756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4846206" y="1097280"/>
            <a:ext cx="274320" cy="274320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846206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5223396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Links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4880496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850" b="1">
                <a:solidFill>
                  <a:srgbClr val="154360"/>
                </a:solidFill>
                <a:latin typeface="Times New Roman"/>
              </a:rPr>
              <a:t>[ 1 ) Full Documentation — github.com/muhammedmaahir68-droid/cyber-kit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[ 2 ) Live Deployed Web App — cyber-kit-police.vercel.app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[ 3 ) Cloud FastAPI Backend — /api/v1/criminal-network/* endpoints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[ 4 ) Optional Hardware Blueprint — ForensiX Tactical Unit (Make in India)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[ 5 ) Interactive Demo — Real-Time GNN &amp; SP Warrant Issuance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[ 6 ) SIH Problem Statement — sih.gov.in (PS 189 - BPR&amp;D / MHA) ]</a:t>
            </a:r>
          </a:p>
        </p:txBody>
      </p:sp>
      <p:sp>
        <p:nvSpPr>
          <p:cNvPr id="280" name="Google Shape;280;p20"/>
          <p:cNvSpPr txBox="1"/>
          <p:nvPr/>
        </p:nvSpPr>
        <p:spPr>
          <a:xfrm>
            <a:off x="205740" y="438912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1438</Words>
  <Application>Microsoft Office PowerPoint</Application>
  <PresentationFormat>On-screen Show (16:9)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sahana dharani</cp:lastModifiedBy>
  <cp:revision>2</cp:revision>
  <dcterms:modified xsi:type="dcterms:W3CDTF">2026-08-31T14:34:28Z</dcterms:modified>
</cp:coreProperties>
</file>