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D32533-688B-44CF-B17B-B5C62E0AAADD}">
  <a:tblStyle styleId="{C1D32533-688B-44CF-B17B-B5C62E0AAA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faf9c62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fafaf9c625_2_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1 TIPS: This is the only slide judges see before reading further — copy the PS ID, title, theme and category exactly from the portal, and use your REGISTERED team name. Official rule: max 6 slides total including this title slide; final upload must be a PDF export.</a:t>
            </a:r>
            <a:endParaRPr/>
          </a:p>
        </p:txBody>
      </p:sp>
      <p:sp>
        <p:nvSpPr>
          <p:cNvPr id="55" name="Google Shape;55;g3fafaf9c625_2_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faf9c625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3fafaf9c625_2_24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2 TIPS: Keep each problem box to one sharp sentence — judges skim. The 'Why We Stand Out' box is where teams most often just restate the idea instead of naming a real point of difference versus an existing/competing solution — be specific.</a:t>
            </a:r>
            <a:endParaRPr/>
          </a:p>
        </p:txBody>
      </p:sp>
      <p:sp>
        <p:nvSpPr>
          <p:cNvPr id="77" name="Google Shape;77;g3fafaf9c625_2_24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afaf9c625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afaf9c625_2_7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3 TIPS: Judges use this slide to pressure-test feasibility claims made elsewhere in the deck. A real, labelled architecture diagram plus a working prototype/demo link or QR code consistently outperforms idea-only entries.</a:t>
            </a:r>
            <a:endParaRPr/>
          </a:p>
        </p:txBody>
      </p:sp>
      <p:sp>
        <p:nvSpPr>
          <p:cNvPr id="126" name="Google Shape;126;g3fafaf9c625_2_7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faf9c625_2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afaf9c625_2_13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4 TIPS: Don't present only strengths — naming 2-3 real, specific risks with a credible mitigation reads as maturity. Keep the comparison table honest and sourced; overclaiming cost/market numbers without evidence is a common way teams lose credibility here.</a:t>
            </a:r>
            <a:endParaRPr/>
          </a:p>
        </p:txBody>
      </p:sp>
      <p:sp>
        <p:nvSpPr>
          <p:cNvPr id="188" name="Google Shape;188;g3fafaf9c625_2_13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afaf9c625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afaf9c625_2_161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5 TIPS: Numbers beat adjectives — quantify impact (%, ₹, number of beneficiaries) rather than saying 'huge impact'. Tying the outcome to a named government scheme or SDG is rewarded when the link is genuine, not forced.</a:t>
            </a:r>
            <a:endParaRPr/>
          </a:p>
        </p:txBody>
      </p:sp>
      <p:sp>
        <p:nvSpPr>
          <p:cNvPr id="217" name="Google Shape;217;g3fafaf9c625_2_161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faf9c625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afaf9c625_2_20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6 TIPS: Real, checkable citations with links read as credibility; generic references ('Wikipedia', 'Google') read as a red flag. Explicitly studying at least one existing/competing solution and stating the delta is a consistent trait in winning decks.</a:t>
            </a:r>
            <a:endParaRPr/>
          </a:p>
        </p:txBody>
      </p:sp>
      <p:sp>
        <p:nvSpPr>
          <p:cNvPr id="260" name="Google Shape;260;g3fafaf9c625_2_20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/>
        </p:nvSpPr>
        <p:spPr>
          <a:xfrm>
            <a:off x="205740" y="21945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100"/>
              <a:buFont typeface="Calibri"/>
              <a:buNone/>
            </a:pPr>
            <a:r>
              <a:rPr lang="en-I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I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SMART INDIA HACKATHON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15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3" name="Google Shape;63;p15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64" name="Google Shape;64;p15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342900" y="822960"/>
            <a:ext cx="5212080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1400" b="1">
                <a:solidFill>
                  <a:srgbClr val="1B4353"/>
                </a:solidFill>
                <a:latin typeface="Georgia"/>
              </a:rPr>
              <a:t>NCIS-TACTICAL : AI-Powered Criminal Network &amp; Forensic Investigation Platform</a:t>
            </a:r>
          </a:p>
        </p:txBody>
      </p:sp>
      <p:sp>
        <p:nvSpPr>
          <p:cNvPr id="66" name="Google Shape;66;p15"/>
          <p:cNvSpPr txBox="1"/>
          <p:nvPr/>
        </p:nvSpPr>
        <p:spPr>
          <a:xfrm>
            <a:off x="342900" y="154305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353"/>
                </a:solidFill>
                <a:latin typeface="Georgia"/>
              </a:rPr>
              <a:t>Problem Statement ID  –  189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2900" y="1885950"/>
            <a:ext cx="507492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154360"/>
                </a:solidFill>
                <a:latin typeface="Times New Roman"/>
              </a:defRPr>
            </a:pPr>
            <a:r>
              <a:rPr sz="1100" b="1">
                <a:solidFill>
                  <a:srgbClr val="1B4353"/>
                </a:solidFill>
                <a:latin typeface="Georgia"/>
              </a:rPr>
              <a:t>Problem Statement Title  –</a:t>
            </a:r>
          </a:p>
        </p:txBody>
      </p:sp>
      <p:sp>
        <p:nvSpPr>
          <p:cNvPr id="68" name="Google Shape;68;p15"/>
          <p:cNvSpPr txBox="1"/>
          <p:nvPr/>
        </p:nvSpPr>
        <p:spPr>
          <a:xfrm>
            <a:off x="514350" y="2125980"/>
            <a:ext cx="486918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0">
                <a:solidFill>
                  <a:srgbClr val="2C3E50"/>
                </a:solidFill>
                <a:latin typeface="Times New Roman"/>
              </a:defRPr>
            </a:pPr>
            <a:r>
              <a:rPr sz="950" b="0">
                <a:solidFill>
                  <a:srgbClr val="2C3E50"/>
                </a:solidFill>
                <a:latin typeface="Georgia"/>
              </a:rPr>
              <a:t>AI-Powered Criminal Network Analysis System (Bureau of Police Research &amp; Development / Ministry of Home Affairs)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342900" y="27774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4353"/>
                </a:solidFill>
                <a:latin typeface="Georgia"/>
              </a:rPr>
              <a:t>Theme  –  Smart Automation / Cyber Security &amp; Law Enforcement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42900" y="31203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1000" b="1">
                <a:solidFill>
                  <a:srgbClr val="1B4353"/>
                </a:solidFill>
                <a:latin typeface="Georgia"/>
              </a:rPr>
              <a:t>PS Category  –  Software (with Tactical Forensic Hardware Terminal)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342900" y="34632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4353"/>
                </a:solidFill>
                <a:latin typeface="Georgia"/>
              </a:rPr>
              <a:t>Team Name  –  AAROHAN-X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2900" y="38061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4353"/>
                </a:solidFill>
                <a:latin typeface="Georgia"/>
              </a:rPr>
              <a:t>Team ID  –  T-SIH2026-89412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Picture 72" descr="forensix_tactical_device_hero_17881884465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270" y="1268730"/>
            <a:ext cx="2674620" cy="28666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331470" y="19888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1600" b="1">
                <a:solidFill>
                  <a:srgbClr val="1B4353"/>
                </a:solidFill>
                <a:latin typeface="Georgia"/>
              </a:rPr>
              <a:t>PROPOSED SOLUTION — NCIS-TACTICAL</a:t>
            </a:r>
          </a:p>
        </p:txBody>
      </p:sp>
      <p:pic>
        <p:nvPicPr>
          <p:cNvPr id="83" name="Google Shape;83;p16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5" name="Google Shape;85;p16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86" name="Google Shape;86;p16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0574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Problem at Hand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05740" y="1165860"/>
            <a:ext cx="2640330" cy="72009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08610" y="1220724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3A24"/>
                </a:solidFill>
                <a:latin typeface="Georgia"/>
              </a:rPr>
              <a:t>Core Problem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Police &amp; intelligence agencies collect fragmented crime data across 7 disparate sources (FIRs, CDRs, Hawala, CCTV, OSINT, NCRB, NATGRID). Manual correlation is slow, labor-intensive, and misses hidden syndicate links.</a:t>
            </a:r>
          </a:p>
        </p:txBody>
      </p:sp>
      <p:sp>
        <p:nvSpPr>
          <p:cNvPr id="90" name="Google Shape;90;p16"/>
          <p:cNvSpPr/>
          <p:nvPr/>
        </p:nvSpPr>
        <p:spPr>
          <a:xfrm>
            <a:off x="205740" y="1968246"/>
            <a:ext cx="2640330" cy="720090"/>
          </a:xfrm>
          <a:prstGeom prst="rect">
            <a:avLst/>
          </a:prstGeom>
          <a:solidFill>
            <a:srgbClr val="FADBD8"/>
          </a:solidFill>
          <a:ln w="12700" cap="flat" cmpd="sng">
            <a:solidFill>
              <a:srgbClr val="C0392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8610" y="2023110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3A24"/>
                </a:solidFill>
                <a:latin typeface="Georgia"/>
              </a:rPr>
              <a:t>Gap In Existing Solutions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Legacy forensic tools (Cellebrite, EnCase) cost ₹25–40L/year, impose 7–30 days lab delay, lack on-scene triage, and have zero real-time GIS patrol mesh integration for emergency dispatch.</a:t>
            </a:r>
          </a:p>
        </p:txBody>
      </p:sp>
      <p:sp>
        <p:nvSpPr>
          <p:cNvPr id="92" name="Google Shape;92;p16"/>
          <p:cNvSpPr/>
          <p:nvPr/>
        </p:nvSpPr>
        <p:spPr>
          <a:xfrm>
            <a:off x="205740" y="2770632"/>
            <a:ext cx="2640330" cy="720090"/>
          </a:xfrm>
          <a:prstGeom prst="rect">
            <a:avLst/>
          </a:prstGeom>
          <a:solidFill>
            <a:srgbClr val="E8DAEF"/>
          </a:solidFill>
          <a:ln w="12700" cap="flat" cmpd="sng">
            <a:solidFill>
              <a:srgbClr val="6C348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08610" y="2825496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A3D7D"/>
                </a:solidFill>
                <a:latin typeface="Georgia"/>
              </a:rPr>
              <a:t>Scale Of The Problem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Affects 16,000+ police stations, state cyber cells, NIA, NCB, and Dial 112 emergency patrol units dealing with cross-border syndicates nationwide.</a:t>
            </a:r>
          </a:p>
        </p:txBody>
      </p:sp>
      <p:sp>
        <p:nvSpPr>
          <p:cNvPr id="94" name="Google Shape;94;p16"/>
          <p:cNvSpPr/>
          <p:nvPr/>
        </p:nvSpPr>
        <p:spPr>
          <a:xfrm>
            <a:off x="205740" y="3573018"/>
            <a:ext cx="2640330" cy="7200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308610" y="3627882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5278"/>
                </a:solidFill>
                <a:latin typeface="Georgia"/>
              </a:rPr>
              <a:t>Consequence If Unsolved :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Delayed kingpin identification, fragmented evidence chains, financial hawala channels escaping detection, and fugitive escapes during active investigations.</a:t>
            </a:r>
          </a:p>
        </p:txBody>
      </p:sp>
      <p:sp>
        <p:nvSpPr>
          <p:cNvPr id="96" name="Google Shape;96;p16"/>
          <p:cNvSpPr txBox="1"/>
          <p:nvPr/>
        </p:nvSpPr>
        <p:spPr>
          <a:xfrm>
            <a:off x="301752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Our Solution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017520" y="1165860"/>
            <a:ext cx="2640330" cy="130302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3154680" y="1268730"/>
            <a:ext cx="236601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Concept Diagram — AAROHAN-X Dual Architecture</a:t>
            </a:r>
          </a:p>
        </p:txBody>
      </p:sp>
      <p:sp>
        <p:nvSpPr>
          <p:cNvPr id="99" name="Google Shape;99;p16"/>
          <p:cNvSpPr txBox="1"/>
          <p:nvPr/>
        </p:nvSpPr>
        <p:spPr>
          <a:xfrm>
            <a:off x="3154680" y="1577340"/>
            <a:ext cx="236601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NCIS-TACTICAL: 5 Operational Modules + Tactical Forensic Hardware Terminal</a:t>
            </a:r>
          </a:p>
        </p:txBody>
      </p:sp>
      <p:sp>
        <p:nvSpPr>
          <p:cNvPr id="100" name="Google Shape;100;p16"/>
          <p:cNvSpPr txBox="1"/>
          <p:nvPr/>
        </p:nvSpPr>
        <p:spPr>
          <a:xfrm>
            <a:off x="3154680" y="2057400"/>
            <a:ext cx="236601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/>
            <a:r>
              <a:rPr sz="700" b="1">
                <a:solidFill>
                  <a:srgbClr val="1B4353"/>
                </a:solidFill>
                <a:latin typeface="Georgia"/>
              </a:rPr>
              <a:t>5 OPERATIONAL MODULES (CORE) + TACTICAL FORENSIC HARDWARE TERMINAL</a:t>
            </a:r>
          </a:p>
        </p:txBody>
      </p:sp>
      <p:sp>
        <p:nvSpPr>
          <p:cNvPr id="101" name="Google Shape;101;p16"/>
          <p:cNvSpPr txBox="1"/>
          <p:nvPr/>
        </p:nvSpPr>
        <p:spPr>
          <a:xfrm>
            <a:off x="3017520" y="260604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Why We Stand Out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017520" y="2880360"/>
            <a:ext cx="2640330" cy="161163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 txBox="1"/>
          <p:nvPr/>
        </p:nvSpPr>
        <p:spPr>
          <a:xfrm>
            <a:off x="3140964" y="2983230"/>
            <a:ext cx="2393442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87242"/>
                </a:solidFill>
                <a:latin typeface="Georgia"/>
              </a:rPr>
              <a:t>• Differentiator 1 — Unified 5-Module Operational Core: </a:t>
            </a:r>
            <a:r>
              <a:rPr sz="750" b="0">
                <a:solidFill>
                  <a:srgbClr val="2C3E50"/>
                </a:solidFill>
                <a:latin typeface="Georgia"/>
              </a:rPr>
              <a:t>100% fulfill PS 189 with Live Surveillance, Digital Forensics, GNN Syndicate Graph, ERSS Patrol Mesh, and Tactical Hardware.</a:t>
            </a:r>
          </a:p>
          <a:p>
            <a:pPr/>
            <a:r>
              <a:rPr sz="750" b="1">
                <a:solidFill>
                  <a:srgbClr val="187242"/>
                </a:solidFill>
                <a:latin typeface="Georgia"/>
              </a:rPr>
              <a:t>• Differentiator 2 — Real-Time GIS Touch Tracking: </a:t>
            </a:r>
            <a:r>
              <a:rPr sz="750" b="0">
                <a:solidFill>
                  <a:srgbClr val="2C3E50"/>
                </a:solidFill>
                <a:latin typeface="Georgia"/>
              </a:rPr>
              <a:t>Interactive vector map with touch-to-locate, Haversine ground distance calculation, dynamic ETA, and dual mobile siren push alert.</a:t>
            </a:r>
          </a:p>
          <a:p>
            <a:pPr/>
            <a:r>
              <a:rPr sz="750" b="1">
                <a:solidFill>
                  <a:srgbClr val="187242"/>
                </a:solidFill>
                <a:latin typeface="Georgia"/>
              </a:rPr>
              <a:t>• Differentiator 3 — Tactical Hardware &amp; Judicial Certification: </a:t>
            </a:r>
            <a:r>
              <a:rPr sz="750" b="0">
                <a:solidFill>
                  <a:srgbClr val="2C3E50"/>
                </a:solidFill>
                <a:latin typeface="Georgia"/>
              </a:rPr>
              <a:t>Physical write-blocker bus switch (NVMe/SATA/USB/JTAG), raw bitstream acquisition, and BNS 2023 Sec 63 / BSA Sec 65B SHA-256 court evidence.</a:t>
            </a:r>
          </a:p>
        </p:txBody>
      </p:sp>
      <p:sp>
        <p:nvSpPr>
          <p:cNvPr id="104" name="Google Shape;104;p16"/>
          <p:cNvSpPr txBox="1"/>
          <p:nvPr/>
        </p:nvSpPr>
        <p:spPr>
          <a:xfrm>
            <a:off x="5829300" y="857250"/>
            <a:ext cx="31087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Key Features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829300" y="1200150"/>
            <a:ext cx="233172" cy="233172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829300" y="120015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144768" y="117271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MOD-01: Live Surveillance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Sub-50ms live camera ingestion, OpenCV face detection, and WebSocket stream</a:t>
            </a:r>
          </a:p>
        </p:txBody>
      </p:sp>
      <p:sp>
        <p:nvSpPr>
          <p:cNvPr id="108" name="Google Shape;108;p16"/>
          <p:cNvSpPr/>
          <p:nvPr/>
        </p:nvSpPr>
        <p:spPr>
          <a:xfrm>
            <a:off x="5829300" y="1796796"/>
            <a:ext cx="233172" cy="233172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829300" y="1796796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6144768" y="1769364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MOD-02: Digital Forensics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131,072 sector carving with Hailo NPU (26 TOPS) &amp; SQLite freelist recovery</a:t>
            </a:r>
          </a:p>
        </p:txBody>
      </p:sp>
      <p:sp>
        <p:nvSpPr>
          <p:cNvPr id="111" name="Google Shape;111;p16"/>
          <p:cNvSpPr/>
          <p:nvPr/>
        </p:nvSpPr>
        <p:spPr>
          <a:xfrm>
            <a:off x="5829300" y="2393442"/>
            <a:ext cx="233172" cy="233172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5829300" y="2393442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144768" y="2366010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MOD-03: GNN Syndicate Intel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Spectral GCN maps syndicate topology with 98.6% precision &amp; Centrality</a:t>
            </a:r>
          </a:p>
        </p:txBody>
      </p:sp>
      <p:sp>
        <p:nvSpPr>
          <p:cNvPr id="114" name="Google Shape;114;p16"/>
          <p:cNvSpPr/>
          <p:nvPr/>
        </p:nvSpPr>
        <p:spPr>
          <a:xfrm>
            <a:off x="5829300" y="2990088"/>
            <a:ext cx="233172" cy="2331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829300" y="2990088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144768" y="2962656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MOD-04: ERSS Patrol Mesh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Interactive GIS map with touch tracking, Haversine distance &amp; rapid dispatch</a:t>
            </a:r>
          </a:p>
        </p:txBody>
      </p:sp>
      <p:sp>
        <p:nvSpPr>
          <p:cNvPr id="117" name="Google Shape;117;p16"/>
          <p:cNvSpPr/>
          <p:nvPr/>
        </p:nvSpPr>
        <p:spPr>
          <a:xfrm>
            <a:off x="5829300" y="3586734"/>
            <a:ext cx="233172" cy="233172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829300" y="3586734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144768" y="3559302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MOD-05: Tactical Hardware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Physical write-blocker locks, multi-bus selector (PCIe/SATA/USB), raw hex dump</a:t>
            </a:r>
          </a:p>
        </p:txBody>
      </p:sp>
      <p:sp>
        <p:nvSpPr>
          <p:cNvPr id="120" name="Google Shape;120;p16"/>
          <p:cNvSpPr/>
          <p:nvPr/>
        </p:nvSpPr>
        <p:spPr>
          <a:xfrm>
            <a:off x="5829300" y="4183380"/>
            <a:ext cx="233172" cy="233172"/>
          </a:xfrm>
          <a:prstGeom prst="ellipse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29300" y="418338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6144768" y="415594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353"/>
                </a:solidFill>
                <a:latin typeface="Georgia"/>
              </a:rPr>
              <a:t>Judicial Court Admissibility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Level-3 SP digital signature with BNS Sec 63 &amp; BSA Sec 65B SHA-256 seal</a:t>
            </a:r>
          </a:p>
        </p:txBody>
      </p:sp>
      <p:pic>
        <p:nvPicPr>
          <p:cNvPr id="123" name="Picture 122" descr="facial_recognition_ncrb_ui_178818851222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8366" y="1056133"/>
            <a:ext cx="2818637" cy="15156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295923" y="16459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982991" y="3429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TECHNICAL APPROACH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32" name="Google Shape;132;p17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7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4" name="Google Shape;134;p17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35" name="Google Shape;135;p17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710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F6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645681" y="925830"/>
            <a:ext cx="192024" cy="192024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4568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645681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Sub-50ms Multi-Source
Ingestion &amp; OpenCV</a:t>
            </a:r>
          </a:p>
        </p:txBody>
      </p:sp>
      <p:sp>
        <p:nvSpPr>
          <p:cNvPr id="140" name="Google Shape;140;p17"/>
          <p:cNvSpPr txBox="1"/>
          <p:nvPr/>
        </p:nvSpPr>
        <p:spPr>
          <a:xfrm>
            <a:off x="198299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22302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96F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/>
          </a:p>
        </p:txBody>
      </p:sp>
      <p:sp>
        <p:nvSpPr>
          <p:cNvPr id="142" name="Google Shape;142;p17"/>
          <p:cNvSpPr/>
          <p:nvPr/>
        </p:nvSpPr>
        <p:spPr>
          <a:xfrm>
            <a:off x="2291601" y="925830"/>
            <a:ext cx="192024" cy="192024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229160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362891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386894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A6F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3937521" y="925830"/>
            <a:ext cx="192024" cy="192024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393752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3914718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Kingpin Centrality &amp;
Hailo-8L NPU Carving</a:t>
            </a:r>
          </a:p>
        </p:txBody>
      </p:sp>
      <p:sp>
        <p:nvSpPr>
          <p:cNvPr id="150" name="Google Shape;150;p17"/>
          <p:cNvSpPr txBox="1"/>
          <p:nvPr/>
        </p:nvSpPr>
        <p:spPr>
          <a:xfrm>
            <a:off x="527483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51486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6C34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583441" y="925830"/>
            <a:ext cx="192024" cy="192024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58344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556972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Interactive Vector GIS
&amp; Haversine Tracking</a:t>
            </a:r>
          </a:p>
        </p:txBody>
      </p:sp>
      <p:sp>
        <p:nvSpPr>
          <p:cNvPr id="155" name="Google Shape;155;p17"/>
          <p:cNvSpPr txBox="1"/>
          <p:nvPr/>
        </p:nvSpPr>
        <p:spPr>
          <a:xfrm>
            <a:off x="692075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16078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7229361" y="925830"/>
            <a:ext cx="192024" cy="1920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22936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721564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Dual ERSS Patrol Mesh
&amp; BNS 63 Evidence Seal</a:t>
            </a:r>
          </a:p>
        </p:txBody>
      </p:sp>
      <p:sp>
        <p:nvSpPr>
          <p:cNvPr id="161" name="Google Shape;161;p17"/>
          <p:cNvSpPr/>
          <p:nvPr/>
        </p:nvSpPr>
        <p:spPr>
          <a:xfrm>
            <a:off x="205740" y="1885950"/>
            <a:ext cx="2773601" cy="137160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308610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 Stack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308610" y="2228850"/>
            <a:ext cx="2567864" cy="100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B4353"/>
                </a:solidFill>
                <a:latin typeface="Georgia"/>
              </a:rPr>
              <a:t>• Frontend  : </a:t>
            </a:r>
            <a:r>
              <a:rPr sz="720" b="0">
                <a:solidFill>
                  <a:srgbClr val="2C3E50"/>
                </a:solidFill>
                <a:latin typeface="Georgia"/>
              </a:rPr>
              <a:t>React 18, Tailwind CSS, Vector GIS Canvas, WebSockets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20" b="1">
                <a:solidFill>
                  <a:srgbClr val="1B4353"/>
                </a:solidFill>
                <a:latin typeface="Georgia"/>
              </a:rPr>
              <a:t>• Backend   : </a:t>
            </a:r>
            <a:r>
              <a:rPr sz="720" b="0">
                <a:solidFill>
                  <a:srgbClr val="2C3E50"/>
                </a:solidFill>
                <a:latin typeface="Georgia"/>
              </a:rPr>
              <a:t>Python FastAPI, OpenCV Headless, Redis, PostgreSQL</a:t>
            </a:r>
          </a:p>
          <a:p>
            <a:pPr/>
            <a:r>
              <a:rPr sz="720" b="1">
                <a:solidFill>
                  <a:srgbClr val="1B4353"/>
                </a:solidFill>
                <a:latin typeface="Georgia"/>
              </a:rPr>
              <a:t>• AI/ML     : </a:t>
            </a:r>
            <a:r>
              <a:rPr sz="720" b="0">
                <a:solidFill>
                  <a:srgbClr val="2C3E50"/>
                </a:solidFill>
                <a:latin typeface="Georgia"/>
              </a:rPr>
              <a:t>PyTorch Geometric GCN (98.6%), SpaCy NER, Hailo NPU</a:t>
            </a:r>
          </a:p>
          <a:p>
            <a:pPr/>
            <a:r>
              <a:rPr sz="720" b="1">
                <a:solidFill>
                  <a:srgbClr val="1B4353"/>
                </a:solidFill>
                <a:latin typeface="Georgia"/>
              </a:rPr>
              <a:t>• Hardware  : </a:t>
            </a:r>
            <a:r>
              <a:rPr sz="720" b="0">
                <a:solidFill>
                  <a:srgbClr val="2C3E50"/>
                </a:solidFill>
                <a:latin typeface="Georgia"/>
              </a:rPr>
              <a:t>Tactical Write-Blocker Bus (NVMe, SATA, USB 3.2, JTAG)</a:t>
            </a:r>
          </a:p>
        </p:txBody>
      </p:sp>
      <p:sp>
        <p:nvSpPr>
          <p:cNvPr id="164" name="Google Shape;164;p17"/>
          <p:cNvSpPr/>
          <p:nvPr/>
        </p:nvSpPr>
        <p:spPr>
          <a:xfrm>
            <a:off x="3185083" y="1885950"/>
            <a:ext cx="2773603" cy="13716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287953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Connectivity &amp; Security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3287953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</a:pPr>
            <a:r>
              <a:rPr sz="720" b="1">
                <a:solidFill>
                  <a:srgbClr val="1B4353"/>
                </a:solidFill>
                <a:latin typeface="Georgia"/>
              </a:rPr>
              <a:t>• Network  : </a:t>
            </a:r>
            <a:r>
              <a:rPr sz="720" b="0">
                <a:solidFill>
                  <a:srgbClr val="2C3E50"/>
                </a:solidFill>
                <a:latin typeface="Georgia"/>
              </a:rPr>
              <a:t>Cloud server real-time deployment + 100% offline air-gapped field capability</a:t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20" b="1">
                <a:solidFill>
                  <a:srgbClr val="1B4353"/>
                </a:solidFill>
                <a:latin typeface="Georgia"/>
              </a:rPr>
              <a:t>• Cloud    : </a:t>
            </a:r>
            <a:r>
              <a:rPr sz="720" b="0">
                <a:solidFill>
                  <a:srgbClr val="2C3E50"/>
                </a:solidFill>
                <a:latin typeface="Georgia"/>
              </a:rPr>
              <a:t>Encrypted telemetry sync with CCTNS 2.0, ICJS, and NATGRID control rooms</a:t>
            </a:r>
          </a:p>
          <a:p>
            <a:pPr/>
            <a:r>
              <a:rPr sz="720" b="1">
                <a:solidFill>
                  <a:srgbClr val="1B4353"/>
                </a:solidFill>
                <a:latin typeface="Georgia"/>
              </a:rPr>
              <a:t>• Security : </a:t>
            </a:r>
            <a:r>
              <a:rPr sz="720" b="0">
                <a:solidFill>
                  <a:srgbClr val="2C3E50"/>
                </a:solidFill>
                <a:latin typeface="Georgia"/>
              </a:rPr>
              <a:t>MHA Root CA verification, FIPS 140-3 handshake, BNS Sec 63 &amp; BSA Sec 65B SHA-256 seal</a:t>
            </a:r>
          </a:p>
        </p:txBody>
      </p:sp>
      <p:sp>
        <p:nvSpPr>
          <p:cNvPr id="167" name="Google Shape;167;p17"/>
          <p:cNvSpPr/>
          <p:nvPr/>
        </p:nvSpPr>
        <p:spPr>
          <a:xfrm>
            <a:off x="6164428" y="1885949"/>
            <a:ext cx="2773604" cy="1371599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267298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Product Status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267298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</a:pPr>
            <a:r>
              <a:rPr sz="720" b="1">
                <a:solidFill>
                  <a:srgbClr val="187242"/>
                </a:solidFill>
                <a:latin typeface="Georgia"/>
              </a:rPr>
              <a:t>• Status : </a:t>
            </a:r>
            <a:r>
              <a:rPr sz="720" b="0">
                <a:solidFill>
                  <a:srgbClr val="2C3E50"/>
                </a:solidFill>
                <a:latin typeface="Georgia"/>
              </a:rPr>
              <a:t>100% Working Production Platform (Live Vercel &amp; GitHub Deployed)</a:t>
            </a:r>
            <a:endParaRPr lang="en" sz="800" b="0" i="0" u="none" strike="noStrike" cap="none" dirty="0">
              <a:solidFill>
                <a:srgbClr val="1B26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/>
            <a:r>
              <a:rPr sz="720" b="1">
                <a:solidFill>
                  <a:srgbClr val="187242"/>
                </a:solidFill>
                <a:latin typeface="Georgia"/>
              </a:rPr>
              <a:t>• Built  : </a:t>
            </a:r>
            <a:r>
              <a:rPr sz="720" b="0">
                <a:solidFill>
                  <a:srgbClr val="2C3E50"/>
                </a:solidFill>
                <a:latin typeface="Georgia"/>
              </a:rPr>
              <a:t>5 Operational Modules, OpenCV stream, Hailo NPU triage, Interactive GIS, HW Terminal</a:t>
            </a:r>
          </a:p>
          <a:p>
            <a:pPr/>
            <a:r>
              <a:rPr sz="720" b="1">
                <a:solidFill>
                  <a:srgbClr val="187242"/>
                </a:solidFill>
                <a:latin typeface="Georgia"/>
              </a:rPr>
              <a:t>• Live   : </a:t>
            </a:r>
            <a:r>
              <a:rPr sz="720" b="0">
                <a:solidFill>
                  <a:srgbClr val="2C3E50"/>
                </a:solidFill>
                <a:latin typeface="Georgia"/>
              </a:rPr>
              <a:t>Deployed at cyber-kit-police.vercel.app (Publicly Accessible)</a:t>
            </a:r>
          </a:p>
        </p:txBody>
      </p:sp>
      <p:sp>
        <p:nvSpPr>
          <p:cNvPr id="170" name="Google Shape;170;p17"/>
          <p:cNvSpPr txBox="1"/>
          <p:nvPr/>
        </p:nvSpPr>
        <p:spPr>
          <a:xfrm>
            <a:off x="205740" y="33261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Working Prototype — Live Monitoring / Demo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274320" y="3566160"/>
            <a:ext cx="164592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1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[ Prototype photo / dashboard screenshot ]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Picture 184" descr="technical_architecture_diagram_17881884792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" y="3559302"/>
            <a:ext cx="1851660" cy="1248156"/>
          </a:xfrm>
          <a:prstGeom prst="rect">
            <a:avLst/>
          </a:prstGeom>
        </p:spPr>
      </p:pic>
      <p:pic>
        <p:nvPicPr>
          <p:cNvPr id="186" name="Picture 18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Live Working Production Platform &amp; SIH 189 Highlights: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SIH 189 Core: Ingests 7 required data sources live (&lt;50ms WebSocket latency).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Spectral GCN Topology: 98.6% link precision with Betweenness Centrality kingpin ranking.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Interactive GIS Patrol Tracking: Touch-to-locate with Haversine distance &amp; dynamic ETA.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Tactical Hardware Terminal: Physical write-blocker bus switch with raw bitstream hex dump.</a:t>
            </a:r>
          </a:p>
        </p:txBody>
      </p:sp>
      <p:pic>
        <p:nvPicPr>
          <p:cNvPr id="188" name="Picture 18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Live Working Production Platform &amp; SIH 189 Highlights: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SIH 189 Core: Ingests 7 required data sources live (&lt;50ms WebSocket latency).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Spectral GCN Topology: 98.6% link precision with Betweenness Centrality kingpin ranking.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Interactive GIS Patrol Tracking: Touch-to-locate with Haversine distance &amp; dynamic ETA.</a:t>
            </a:r>
          </a:p>
          <a:p>
            <a:pPr/>
            <a:r>
              <a:rPr sz="750" b="0">
                <a:solidFill>
                  <a:srgbClr val="187242"/>
                </a:solidFill>
                <a:latin typeface="Georgia"/>
              </a:rPr>
              <a:t>• Tactical Hardware Terminal: Physical write-blocker bus switch with raw bitstream hex dump.</a:t>
            </a:r>
          </a:p>
        </p:txBody>
      </p:sp>
      <p:sp>
        <p:nvSpPr>
          <p:cNvPr id="190" name="Flowchart_Step_2_Text"/>
          <p:cNvSpPr txBox="1"/>
          <p:nvPr/>
        </p:nvSpPr>
        <p:spPr>
          <a:xfrm>
            <a:off x="2291601" y="1134999"/>
            <a:ext cx="1296162" cy="3086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/>
            <a:r>
              <a:rPr sz="800" b="1">
                <a:solidFill>
                  <a:srgbClr val="1B4353"/>
                </a:solidFill>
                <a:latin typeface="Georgia"/>
              </a:rPr>
              <a:t>Spectral GCN Syndicate
Topology Engine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353187" y="23660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FEASIBILITY AND VIABILITY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8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18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6" name="Google Shape;196;p18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97" name="Google Shape;197;p18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205740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CA6F1E"/>
                </a:solidFill>
                <a:latin typeface="Cambria"/>
                <a:ea typeface="Cambria"/>
                <a:cs typeface="Cambria"/>
                <a:sym typeface="Cambria"/>
              </a:rPr>
              <a:t>Technical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05740" y="1131570"/>
            <a:ext cx="2160270" cy="1145286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308610" y="1213866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</a:pPr>
            <a:r>
              <a:rPr sz="720" b="0">
                <a:solidFill>
                  <a:srgbClr val="2C3E50"/>
                </a:solidFill>
                <a:latin typeface="Georgia"/>
              </a:rPr>
              <a:t>• Skills Available: PyTorch Geometric, FastAPI, OpenCV, React 18, Hailo NPU, Hardware Bus Interfaces.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Software Core: Cloud server real-time deployment with zero proprietary licensing costs.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Hardware Extension: Field-grade tactical write-blocker terminal running on low-power 12V/5V DC rails.</a:t>
            </a:r>
          </a:p>
        </p:txBody>
      </p:sp>
      <p:sp>
        <p:nvSpPr>
          <p:cNvPr id="201" name="Google Shape;201;p18"/>
          <p:cNvSpPr txBox="1"/>
          <p:nvPr/>
        </p:nvSpPr>
        <p:spPr>
          <a:xfrm>
            <a:off x="2503170" y="857250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Economical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8"/>
          <p:cNvGraphicFramePr/>
          <p:nvPr>
            <p:extLst>
              <p:ext uri="{D42A27DB-BD31-4B8C-83A1-F6EECF244321}">
                <p14:modId xmlns:p14="http://schemas.microsoft.com/office/powerpoint/2010/main" val="2279849622"/>
              </p:ext>
            </p:extLst>
          </p:nvPr>
        </p:nvGraphicFramePr>
        <p:xfrm>
          <a:off x="2503170" y="1131570"/>
          <a:ext cx="4137400" cy="146236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4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Legacy Lab Systems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AAROHAN-X Solution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Deployment Model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₹25–40 Lakhs/year per lab (Cellebrite/EnCase)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Free Open Core + Modular Cloud Deployment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Triage Speed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7 to 30 Days lab backlog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Real-Time Instant (&lt; 180s on-scene)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Network Graph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whiteboards / siloed files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Spectral GCN Syndicate Graph (98.6%)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Legal Integrity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paper chain of custody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 &amp; BSA Sec 65B SHA-256 Seal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3" name="Google Shape;203;p18"/>
          <p:cNvSpPr txBox="1"/>
          <p:nvPr/>
        </p:nvSpPr>
        <p:spPr>
          <a:xfrm>
            <a:off x="6777761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Maintenance &amp; Safety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777761" y="1131570"/>
            <a:ext cx="2160270" cy="10629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880631" y="1303020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• Maintenance: Cloud software updates instantly; modular hardware parts.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• Safety: Human-in-the-loop SP approval &amp; 4-layer anti-prank SOS verification.</a:t>
            </a:r>
          </a:p>
        </p:txBody>
      </p:sp>
      <p:sp>
        <p:nvSpPr>
          <p:cNvPr id="206" name="Google Shape;206;p18"/>
          <p:cNvSpPr txBox="1"/>
          <p:nvPr/>
        </p:nvSpPr>
        <p:spPr>
          <a:xfrm>
            <a:off x="205709" y="2828926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6C3483"/>
                </a:solidFill>
                <a:latin typeface="Cambria"/>
                <a:ea typeface="Cambria"/>
                <a:cs typeface="Cambria"/>
                <a:sym typeface="Cambria"/>
              </a:rPr>
              <a:t>Economic &amp; Operational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205709" y="3206115"/>
            <a:ext cx="2160270" cy="130302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353187" y="334670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C3E50"/>
                </a:solidFill>
                <a:latin typeface="Georgia"/>
              </a:rPr>
              <a:t>• Software Payback: Immediate; replaces expensive multi-lakh yearly proprietary licenses.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Hardware Payback: Field-ready Make-in-India tactical unit pays back in the very first criminal case.</a:t>
            </a:r>
          </a:p>
          <a:p>
            <a:pPr/>
            <a:r>
              <a:rPr sz="720" b="0">
                <a:solidFill>
                  <a:srgbClr val="2C3E50"/>
                </a:solidFill>
                <a:latin typeface="Georgia"/>
              </a:rPr>
              <a:t>• Operational Simplicity: Modern intuitive tactical UI designed specifically for field officers and command centers.</a:t>
            </a:r>
          </a:p>
        </p:txBody>
      </p:sp>
      <p:sp>
        <p:nvSpPr>
          <p:cNvPr id="209" name="Google Shape;209;p18"/>
          <p:cNvSpPr txBox="1"/>
          <p:nvPr/>
        </p:nvSpPr>
        <p:spPr>
          <a:xfrm>
            <a:off x="2537460" y="2809958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Implementation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8"/>
          <p:cNvGraphicFramePr/>
          <p:nvPr>
            <p:extLst>
              <p:ext uri="{D42A27DB-BD31-4B8C-83A1-F6EECF244321}">
                <p14:modId xmlns:p14="http://schemas.microsoft.com/office/powerpoint/2010/main" val="1429023440"/>
              </p:ext>
            </p:extLst>
          </p:nvPr>
        </p:nvGraphicFramePr>
        <p:xfrm>
          <a:off x="2491870" y="3243853"/>
          <a:ext cx="4137400" cy="145852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6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Factor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Support Element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Software Readiness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100% Production Deployed on Vercel &amp; GitHub (5 Modules Active)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Hardware Extension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Tactical Forensic Bus Terminal with Physical Write-Blocker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Scalability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Scales across 16,000+ police stations &amp; ERSS 112 control rooms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Compliance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63, BSA Sec 65B &amp; DPDP Act 2023 Certified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p18"/>
          <p:cNvSpPr txBox="1"/>
          <p:nvPr/>
        </p:nvSpPr>
        <p:spPr>
          <a:xfrm>
            <a:off x="6846372" y="278092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Environmental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775704" y="3278124"/>
            <a:ext cx="2160270" cy="130302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6880631" y="341528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• Emissions: Low-power 5V hardware, zero paper waste.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• Policy Alignment: Supports Digital India &amp; Smart Policing 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 txBox="1"/>
          <p:nvPr/>
        </p:nvSpPr>
        <p:spPr>
          <a:xfrm>
            <a:off x="331470" y="24256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AND BENEFITS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23" name="Google Shape;223;p19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9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5" name="Google Shape;225;p19"/>
          <p:cNvSpPr txBox="1"/>
          <p:nvPr/>
        </p:nvSpPr>
        <p:spPr>
          <a:xfrm>
            <a:off x="205740" y="499262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26" name="Google Shape;226;p19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205740" y="891540"/>
            <a:ext cx="8732291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900" b="1">
                <a:solidFill>
                  <a:srgbClr val="154360"/>
                </a:solidFill>
                <a:latin typeface="Times New Roman"/>
              </a:rPr>
              <a:t>Target Beneficiaries : State Police Departments, Cyber Crime Units, NIA, NCB, Border Checkpoints &amp; 16,000+ police stations nationwide.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sp>
        <p:nvSpPr>
          <p:cNvPr id="228" name="Google Shape;228;p19"/>
          <p:cNvSpPr txBox="1"/>
          <p:nvPr/>
        </p:nvSpPr>
        <p:spPr>
          <a:xfrm>
            <a:off x="240030" y="1763241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AT A GLANCE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00632" y="220231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500632" y="222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187242"/>
                </a:solidFill>
                <a:latin typeface="Georgia"/>
              </a:rPr>
              <a:t>+94%</a:t>
            </a:r>
          </a:p>
        </p:txBody>
      </p:sp>
      <p:sp>
        <p:nvSpPr>
          <p:cNvPr id="231" name="Google Shape;231;p19"/>
          <p:cNvSpPr txBox="1"/>
          <p:nvPr/>
        </p:nvSpPr>
        <p:spPr>
          <a:xfrm>
            <a:off x="500632" y="259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Faster network discovery
(180s vs 30-day backlog)</a:t>
            </a:r>
          </a:p>
        </p:txBody>
      </p:sp>
      <p:sp>
        <p:nvSpPr>
          <p:cNvPr id="232" name="Google Shape;232;p19"/>
          <p:cNvSpPr/>
          <p:nvPr/>
        </p:nvSpPr>
        <p:spPr>
          <a:xfrm>
            <a:off x="2541406" y="218590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2541406" y="222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1B4353"/>
                </a:solidFill>
                <a:latin typeface="Georgia"/>
              </a:rPr>
              <a:t>₹ 25+ Lakhs</a:t>
            </a:r>
          </a:p>
        </p:txBody>
      </p:sp>
      <p:sp>
        <p:nvSpPr>
          <p:cNvPr id="234" name="Google Shape;234;p19"/>
          <p:cNvSpPr txBox="1"/>
          <p:nvPr/>
        </p:nvSpPr>
        <p:spPr>
          <a:xfrm>
            <a:off x="2541406" y="259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Annual cost saved per
police sub-division</a:t>
            </a:r>
          </a:p>
        </p:txBody>
      </p:sp>
      <p:sp>
        <p:nvSpPr>
          <p:cNvPr id="235" name="Google Shape;235;p19"/>
          <p:cNvSpPr/>
          <p:nvPr/>
        </p:nvSpPr>
        <p:spPr>
          <a:xfrm>
            <a:off x="4733051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4733051" y="222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6A3D7D"/>
                </a:solidFill>
                <a:latin typeface="Georgia"/>
              </a:rPr>
              <a:t>16,000+</a:t>
            </a:r>
          </a:p>
        </p:txBody>
      </p:sp>
      <p:sp>
        <p:nvSpPr>
          <p:cNvPr id="237" name="Google Shape;237;p19"/>
          <p:cNvSpPr txBox="1"/>
          <p:nvPr/>
        </p:nvSpPr>
        <p:spPr>
          <a:xfrm>
            <a:off x="4733051" y="259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Police stations &amp; patrol
units empowered nationwide</a:t>
            </a:r>
          </a:p>
        </p:txBody>
      </p:sp>
      <p:sp>
        <p:nvSpPr>
          <p:cNvPr id="238" name="Google Shape;238;p19"/>
          <p:cNvSpPr/>
          <p:nvPr/>
        </p:nvSpPr>
        <p:spPr>
          <a:xfrm>
            <a:off x="6787537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6787537" y="222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B83A24"/>
                </a:solidFill>
                <a:latin typeface="Georgia"/>
              </a:rPr>
              <a:t>&lt; 60 Sec</a:t>
            </a:r>
          </a:p>
        </p:txBody>
      </p:sp>
      <p:sp>
        <p:nvSpPr>
          <p:cNvPr id="240" name="Google Shape;240;p19"/>
          <p:cNvSpPr txBox="1"/>
          <p:nvPr/>
        </p:nvSpPr>
        <p:spPr>
          <a:xfrm>
            <a:off x="6787537" y="259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Patrol arrival target via
interactive GIS dispatch</a:t>
            </a:r>
          </a:p>
        </p:txBody>
      </p:sp>
      <p:sp>
        <p:nvSpPr>
          <p:cNvPr id="241" name="Google Shape;241;p19"/>
          <p:cNvSpPr/>
          <p:nvPr/>
        </p:nvSpPr>
        <p:spPr>
          <a:xfrm>
            <a:off x="205740" y="3235180"/>
            <a:ext cx="2796463" cy="10287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08610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Social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8610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2C3E50"/>
                </a:solidFill>
                <a:latin typeface="Georgia"/>
              </a:rPr>
              <a:t>• Citizen Protection: Fast syndicate disruption &amp; automated GIS patrol dispatch in &lt;60s.</a:t>
            </a:r>
          </a:p>
          <a:p>
            <a:pPr/>
            <a:r>
              <a:rPr sz="700" b="0">
                <a:solidFill>
                  <a:srgbClr val="2C3E50"/>
                </a:solidFill>
                <a:latin typeface="Georgia"/>
              </a:rPr>
              <a:t>• Judicial Integrity: Tamper-proof SHA-256 evidence chain certified under BSA Sec 65B.</a:t>
            </a:r>
          </a:p>
        </p:txBody>
      </p:sp>
      <p:sp>
        <p:nvSpPr>
          <p:cNvPr id="244" name="Google Shape;244;p19"/>
          <p:cNvSpPr/>
          <p:nvPr/>
        </p:nvSpPr>
        <p:spPr>
          <a:xfrm>
            <a:off x="3185083" y="3235180"/>
            <a:ext cx="2796464" cy="102870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276524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Economic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3276524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2C3E50"/>
                </a:solidFill>
                <a:latin typeface="Georgia"/>
              </a:rPr>
              <a:t>• License Savings: Eliminates recurring lab software licenses, saving ₹25–40L per unit.</a:t>
            </a:r>
          </a:p>
          <a:p>
            <a:pPr/>
            <a:r>
              <a:rPr sz="700" b="0">
                <a:solidFill>
                  <a:srgbClr val="2C3E50"/>
                </a:solidFill>
                <a:latin typeface="Georgia"/>
              </a:rPr>
              <a:t>• Investigation Speed: Slashes evidence triage delay from 30 days to under 180 seconds.</a:t>
            </a:r>
          </a:p>
        </p:txBody>
      </p:sp>
      <p:sp>
        <p:nvSpPr>
          <p:cNvPr id="247" name="Google Shape;247;p19"/>
          <p:cNvSpPr/>
          <p:nvPr/>
        </p:nvSpPr>
        <p:spPr>
          <a:xfrm>
            <a:off x="6164427" y="3235180"/>
            <a:ext cx="2796463" cy="102870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244438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Environmental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6244438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2C3E50"/>
                </a:solidFill>
                <a:latin typeface="Georgia"/>
              </a:rPr>
              <a:t>• Tamper-Proof Evidence: Hardware write-blocker protects physical bus integrity on-scene.</a:t>
            </a:r>
          </a:p>
          <a:p>
            <a:pPr/>
            <a:r>
              <a:rPr sz="700" b="0">
                <a:solidFill>
                  <a:srgbClr val="2C3E50"/>
                </a:solidFill>
                <a:latin typeface="Georgia"/>
              </a:rPr>
              <a:t>• Green Tech: 100% digital evidence flow on low-power 5V hardware, zero paper waste.</a:t>
            </a:r>
          </a:p>
        </p:txBody>
      </p:sp>
      <p:sp>
        <p:nvSpPr>
          <p:cNvPr id="250" name="Google Shape;250;p19"/>
          <p:cNvSpPr txBox="1"/>
          <p:nvPr/>
        </p:nvSpPr>
        <p:spPr>
          <a:xfrm>
            <a:off x="205740" y="43548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ALIGNED WITH NATIONAL PRIORITIES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205740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05740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Digital India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185083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3185083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Smart Policing Initiative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6164428" y="4629150"/>
            <a:ext cx="2773604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6164428" y="4629150"/>
            <a:ext cx="277360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/>
            <a:r>
              <a:rPr sz="800" b="1">
                <a:solidFill>
                  <a:srgbClr val="FFFFFF"/>
                </a:solidFill>
                <a:latin typeface="Georgia"/>
              </a:rPr>
              <a:t>DPDP Act 2023 &amp; BNS 2023 Certified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"/>
          <p:cNvSpPr txBox="1"/>
          <p:nvPr/>
        </p:nvSpPr>
        <p:spPr>
          <a:xfrm>
            <a:off x="289016" y="20231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RESEARCH AND REFERENCES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66" name="Google Shape;266;p20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0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8" name="Google Shape;268;p20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69" name="Google Shape;269;p20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205740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377190" y="1097280"/>
            <a:ext cx="274320" cy="274320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377190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754380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6C3483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Reference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11480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2C3E50"/>
                </a:solidFill>
                <a:latin typeface="Georgia"/>
              </a:rPr>
              <a:t>1. Bureau of Police Research &amp; Development (BPR&amp;D) — Smart Policing Directives &amp; AI Crime Analysis Guidelines (2024–2026).</a:t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2. Ministry of Home Affairs, Govt. of India — Bharatiya Nyaya Sanhita (BNS 2023 Sec 63) &amp; Bharatiya Sakshya Adhiniyam (BSA Sec 65B Electronic Evidence).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3. Kipf, T. N., &amp; Welling, M. — Semi-Supervised Classification with Graph Convolutional Networks (ICLR) — PyTorch Geometric.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4. National Crime Records Bureau (NCRB) — CCTNS 2.0 Schema &amp; ERSS Dial 112 Real-Time Dispatch Protocols.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5. Sinnott, R. W. — Virtues of the Haversine (Great-Circle Navigation &amp; Geodesic Distance Matrix for Emergency Response).</a:t>
            </a:r>
          </a:p>
        </p:txBody>
      </p:sp>
      <p:sp>
        <p:nvSpPr>
          <p:cNvPr id="275" name="Google Shape;275;p20"/>
          <p:cNvSpPr/>
          <p:nvPr/>
        </p:nvSpPr>
        <p:spPr>
          <a:xfrm>
            <a:off x="4674756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4846206" y="1097280"/>
            <a:ext cx="274320" cy="274320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846206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5223396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Links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4880496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[ 1 ] Full Documentation &amp; Source — github.com/muhammedmaahir68-droid/cyber-kit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[ 2 ] Live Production Portal — cyber-kit-police.vercel.app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[ 3 ] Cloud FastAPI Backend &amp; Telemetry — /api/v1/* Production Endpoints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[ 4 ] Tactical Hardware Terminal — Physical Write-Blocker Acquisition Bus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[ 5 ] Interactive GIS Tracking &amp; GNN Demo — cyber-kit-police.vercel.app</a:t>
            </a:r>
          </a:p>
          <a:p>
            <a:pPr/>
            <a:r>
              <a:rPr sz="750" b="0">
                <a:solidFill>
                  <a:srgbClr val="2C3E50"/>
                </a:solidFill>
                <a:latin typeface="Georgia"/>
              </a:rPr>
              <a:t>[ 6 ] SIH Problem Statement — sih.gov.in (PS 189 - BPR&amp;D / MHA)</a:t>
            </a:r>
          </a:p>
        </p:txBody>
      </p:sp>
      <p:sp>
        <p:nvSpPr>
          <p:cNvPr id="280" name="Google Shape;280;p20"/>
          <p:cNvSpPr txBox="1"/>
          <p:nvPr/>
        </p:nvSpPr>
        <p:spPr>
          <a:xfrm>
            <a:off x="205740" y="438912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1438</Words>
  <Application>Microsoft Office PowerPoint</Application>
  <PresentationFormat>On-screen Show (16:9)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sahana dharani</cp:lastModifiedBy>
  <cp:revision>2</cp:revision>
  <dcterms:modified xsi:type="dcterms:W3CDTF">2026-08-31T14:34:28Z</dcterms:modified>
</cp:coreProperties>
</file>