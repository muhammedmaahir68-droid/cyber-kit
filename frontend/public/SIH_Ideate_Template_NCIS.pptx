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1D32533-688B-44CF-B17B-B5C62E0AAADD}">
  <a:tblStyle styleId="{C1D32533-688B-44CF-B17B-B5C62E0AAA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afaf9c625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fafaf9c625_2_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1 TIPS: This is the only slide judges see before reading further — copy the PS ID, title, theme and category exactly from the portal, and use your REGISTERED team name. Official rule: max 6 slides total including this title slide; final upload must be a PDF export.</a:t>
            </a:r>
            <a:endParaRPr/>
          </a:p>
        </p:txBody>
      </p:sp>
      <p:sp>
        <p:nvSpPr>
          <p:cNvPr id="55" name="Google Shape;55;g3fafaf9c625_2_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afaf9c625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g3fafaf9c625_2_24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2 TIPS: Keep each problem box to one sharp sentence — judges skim. The 'Why We Stand Out' box is where teams most often just restate the idea instead of naming a real point of difference versus an existing/competing solution — be specific.</a:t>
            </a:r>
            <a:endParaRPr/>
          </a:p>
        </p:txBody>
      </p:sp>
      <p:sp>
        <p:nvSpPr>
          <p:cNvPr id="77" name="Google Shape;77;g3fafaf9c625_2_24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afaf9c625_2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fafaf9c625_2_7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3 TIPS: Judges use this slide to pressure-test feasibility claims made elsewhere in the deck. A real, labelled architecture diagram plus a working prototype/demo link or QR code consistently outperforms idea-only entries.</a:t>
            </a:r>
            <a:endParaRPr/>
          </a:p>
        </p:txBody>
      </p:sp>
      <p:sp>
        <p:nvSpPr>
          <p:cNvPr id="126" name="Google Shape;126;g3fafaf9c625_2_7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afaf9c625_2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3fafaf9c625_2_13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4 TIPS: Don't present only strengths — naming 2-3 real, specific risks with a credible mitigation reads as maturity. Keep the comparison table honest and sourced; overclaiming cost/market numbers without evidence is a common way teams lose credibility here.</a:t>
            </a:r>
            <a:endParaRPr/>
          </a:p>
        </p:txBody>
      </p:sp>
      <p:sp>
        <p:nvSpPr>
          <p:cNvPr id="188" name="Google Shape;188;g3fafaf9c625_2_13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afaf9c625_2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3fafaf9c625_2_161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5 TIPS: Numbers beat adjectives — quantify impact (%, ₹, number of beneficiaries) rather than saying 'huge impact'. Tying the outcome to a named government scheme or SDG is rewarded when the link is genuine, not forced.</a:t>
            </a:r>
            <a:endParaRPr/>
          </a:p>
        </p:txBody>
      </p:sp>
      <p:sp>
        <p:nvSpPr>
          <p:cNvPr id="217" name="Google Shape;217;g3fafaf9c625_2_161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afaf9c625_2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g3fafaf9c625_2_20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6 TIPS: Real, checkable citations with links read as credibility; generic references ('Wikipedia', 'Google') read as a red flag. Explicitly studying at least one existing/competing solution and stating the delta is a consistent trait in winning decks.</a:t>
            </a:r>
            <a:endParaRPr/>
          </a:p>
        </p:txBody>
      </p:sp>
      <p:sp>
        <p:nvSpPr>
          <p:cNvPr id="260" name="Google Shape;260;g3fafaf9c625_2_20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/>
        </p:nvSpPr>
        <p:spPr>
          <a:xfrm>
            <a:off x="205740" y="219456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6F3D"/>
              </a:buClr>
              <a:buSzPts val="1100"/>
              <a:buFont typeface="Calibri"/>
              <a:buNone/>
              <a:defRPr sz="1100" b="1">
                <a:solidFill>
                  <a:srgbClr val="196F3D"/>
                </a:solidFill>
                <a:latin typeface="Calibri"/>
              </a:defRPr>
            </a:pPr>
            <a:r>
              <a:t>NCIS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 txBox="1"/>
          <p:nvPr/>
        </p:nvSpPr>
        <p:spPr>
          <a:xfrm>
            <a:off x="1954530" y="6858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900"/>
              <a:buFont typeface="Cambria"/>
              <a:buNone/>
            </a:pPr>
            <a:r>
              <a:rPr lang="en" sz="1900" b="1" i="0" u="none" strike="noStrike" cap="none">
                <a:solidFill>
                  <a:srgbClr val="154360"/>
                </a:solidFill>
                <a:latin typeface="Cambria"/>
                <a:ea typeface="Cambria"/>
                <a:cs typeface="Cambria"/>
                <a:sym typeface="Cambria"/>
              </a:rPr>
              <a:t>SMART INDIA HACKATHON 2026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15" descr="/home/claude/sih2026_v2/assets/sih_logo_fu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83830" y="96012"/>
            <a:ext cx="1152144" cy="5417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15"/>
          <p:cNvCxnSpPr/>
          <p:nvPr/>
        </p:nvCxnSpPr>
        <p:spPr>
          <a:xfrm>
            <a:off x="205740" y="720090"/>
            <a:ext cx="8732291" cy="0"/>
          </a:xfrm>
          <a:prstGeom prst="straightConnector1">
            <a:avLst/>
          </a:prstGeom>
          <a:noFill/>
          <a:ln w="15875" cap="flat" cmpd="sng">
            <a:solidFill>
              <a:srgbClr val="2C3E5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3" name="Google Shape;63;p15"/>
          <p:cNvSpPr txBox="1"/>
          <p:nvPr/>
        </p:nvSpPr>
        <p:spPr>
          <a:xfrm>
            <a:off x="205740" y="4924044"/>
            <a:ext cx="48006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700" b="0">
                <a:solidFill>
                  <a:srgbClr val="707B7C"/>
                </a:solidFill>
                <a:latin typeface="Calibri"/>
              </a:defRPr>
            </a:pPr>
            <a:r>
              <a:t>SIH 2026 — Idea Submission — NCIS</a:t>
            </a:r>
          </a:p>
        </p:txBody>
      </p:sp>
      <p:sp>
        <p:nvSpPr>
          <p:cNvPr id="64" name="Google Shape;64;p15"/>
          <p:cNvSpPr txBox="1"/>
          <p:nvPr/>
        </p:nvSpPr>
        <p:spPr>
          <a:xfrm>
            <a:off x="8641080" y="4924044"/>
            <a:ext cx="29489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707B7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342900" y="822960"/>
            <a:ext cx="5212080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NCIS-TACTICAL : Multi-Vendor DVR/NVR Forensic Analysis &amp; Intelligence Platform</a:t>
            </a:r>
          </a:p>
        </p:txBody>
      </p:sp>
      <p:sp>
        <p:nvSpPr>
          <p:cNvPr id="66" name="Google Shape;66;p15"/>
          <p:cNvSpPr txBox="1"/>
          <p:nvPr/>
        </p:nvSpPr>
        <p:spPr>
          <a:xfrm>
            <a:off x="342900" y="154305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B45309"/>
                </a:solidFill>
                <a:latin typeface="Segoe UI"/>
              </a:defRPr>
            </a:pPr>
            <a:r>
              <a:t>Problem Statement ID  –  SIH26150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342900" y="1885950"/>
            <a:ext cx="507492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950" b="1">
                <a:solidFill>
                  <a:srgbClr val="0B1F3A"/>
                </a:solidFill>
                <a:latin typeface="Segoe UI"/>
              </a:defRPr>
            </a:pPr>
            <a:r>
              <a:t>Problem Statement Title  –</a:t>
            </a:r>
          </a:p>
        </p:txBody>
      </p:sp>
      <p:sp>
        <p:nvSpPr>
          <p:cNvPr id="68" name="Google Shape;68;p15"/>
          <p:cNvSpPr txBox="1"/>
          <p:nvPr/>
        </p:nvSpPr>
        <p:spPr>
          <a:xfrm>
            <a:off x="514350" y="2125980"/>
            <a:ext cx="486918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Development of a Multi-Vendor DVR/NVR Forensic Analysis Tool for Standardized Acquisition, Recovery, and Analysis of Surveillance Evidence (National Technical Research Organisation - NTRO)</a:t>
            </a:r>
          </a:p>
        </p:txBody>
      </p:sp>
      <p:sp>
        <p:nvSpPr>
          <p:cNvPr id="69" name="Google Shape;69;p15"/>
          <p:cNvSpPr txBox="1"/>
          <p:nvPr/>
        </p:nvSpPr>
        <p:spPr>
          <a:xfrm>
            <a:off x="342900" y="277749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172A"/>
                </a:solidFill>
                <a:latin typeface="Segoe UI"/>
              </a:defRPr>
            </a:pPr>
            <a:r>
              <a:t>Theme  –  Cyber Security &amp; Digital Forensics / Surveillance Evidence Extraction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42900" y="312039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PS Category  –  Software (with Tactical Forensic Hardware Terminal &amp; Agentic AI Voice Module)</a:t>
            </a:r>
          </a:p>
        </p:txBody>
      </p:sp>
      <p:sp>
        <p:nvSpPr>
          <p:cNvPr id="71" name="Google Shape;71;p15"/>
          <p:cNvSpPr txBox="1"/>
          <p:nvPr/>
        </p:nvSpPr>
        <p:spPr>
          <a:xfrm>
            <a:off x="342900" y="346329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172A"/>
                </a:solidFill>
                <a:latin typeface="Segoe UI"/>
              </a:defRPr>
            </a:pPr>
            <a:r>
              <a:t>Team Name  –  NCIS Core Cyber Intelligence Team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42900" y="380619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172A"/>
                </a:solidFill>
                <a:latin typeface="Segoe UI"/>
              </a:defRPr>
            </a:pPr>
            <a:r>
              <a:t>Team ID  –  T-SIH2026-89412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Picture 72" descr="forensix_tactical_device_hero_178818844651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9270" y="1268730"/>
            <a:ext cx="2674620" cy="28666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331470" y="198882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96F3D"/>
              </a:buClr>
              <a:buSzPts val="1100"/>
              <a:defRPr sz="1100" b="1">
                <a:solidFill>
                  <a:srgbClr val="196F3D"/>
                </a:solidFill>
                <a:latin typeface="Times New Roman"/>
              </a:defRPr>
            </a:pPr>
            <a:r>
              <a:t>NCIS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1954530" y="6858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1300" b="1">
                <a:solidFill>
                  <a:srgbClr val="0B1F3A"/>
                </a:solidFill>
                <a:latin typeface="Segoe UI"/>
              </a:defRPr>
            </a:pPr>
            <a:r>
              <a:t>PROPOSED SOLUTION — NCIS-TACTICAL (SIH26150 MULTI-VENDOR DVR/NVR &amp; AGENTIC AI)</a:t>
            </a:r>
          </a:p>
        </p:txBody>
      </p:sp>
      <p:pic>
        <p:nvPicPr>
          <p:cNvPr id="83" name="Google Shape;83;p16" descr="/home/claude/sih2026_v2/assets/sih_logo_fu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83830" y="96012"/>
            <a:ext cx="1152144" cy="5417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" name="Google Shape;84;p16"/>
          <p:cNvCxnSpPr/>
          <p:nvPr/>
        </p:nvCxnSpPr>
        <p:spPr>
          <a:xfrm>
            <a:off x="205740" y="720090"/>
            <a:ext cx="8732291" cy="0"/>
          </a:xfrm>
          <a:prstGeom prst="straightConnector1">
            <a:avLst/>
          </a:prstGeom>
          <a:noFill/>
          <a:ln w="15875" cap="flat" cmpd="sng">
            <a:solidFill>
              <a:srgbClr val="2C3E5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85" name="Google Shape;85;p16"/>
          <p:cNvSpPr txBox="1"/>
          <p:nvPr/>
        </p:nvSpPr>
        <p:spPr>
          <a:xfrm>
            <a:off x="205740" y="4924044"/>
            <a:ext cx="48006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700" b="0">
                <a:solidFill>
                  <a:srgbClr val="707B7C"/>
                </a:solidFill>
                <a:latin typeface="Calibri"/>
              </a:defRPr>
            </a:pPr>
            <a:r>
              <a:t>SIH 2026 — Idea Submission — NCIS</a:t>
            </a:r>
          </a:p>
        </p:txBody>
      </p:sp>
      <p:sp>
        <p:nvSpPr>
          <p:cNvPr id="86" name="Google Shape;86;p16"/>
          <p:cNvSpPr txBox="1"/>
          <p:nvPr/>
        </p:nvSpPr>
        <p:spPr>
          <a:xfrm>
            <a:off x="8641080" y="4924044"/>
            <a:ext cx="29489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707B7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205740" y="857250"/>
            <a:ext cx="264033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6F1E"/>
              </a:buClr>
              <a:buSzPts val="1200"/>
              <a:buFont typeface="Cambria"/>
              <a:buNone/>
              <a:defRPr sz="1050" b="1">
                <a:solidFill>
                  <a:srgbClr val="0B1F3A"/>
                </a:solidFill>
                <a:latin typeface="Segoe UI"/>
              </a:defRPr>
            </a:pPr>
            <a:r>
              <a:t>The Unstructured Surveillance &amp; Evidence Challenge</a:t>
            </a:r>
            <a:endParaRPr sz="12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205740" y="1165860"/>
            <a:ext cx="2640330" cy="720090"/>
          </a:xfrm>
          <a:prstGeom prst="rect">
            <a:avLst/>
          </a:prstGeom>
          <a:solidFill>
            <a:srgbClr val="FEF9E7"/>
          </a:solidFill>
          <a:ln w="12700" cap="flat" cmpd="sng">
            <a:solidFill>
              <a:srgbClr val="D4AC0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308610" y="1220724"/>
            <a:ext cx="2434590" cy="61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100"/>
              </a:spcAft>
              <a:defRPr sz="780" b="1">
                <a:solidFill>
                  <a:srgbClr val="B45309"/>
                </a:solidFill>
                <a:latin typeface="Segoe UI"/>
              </a:defRPr>
            </a:pPr>
            <a:r>
              <a:t>Core Problem (SIH26150):</a:t>
            </a:r>
          </a:p>
          <a:p>
            <a:pPr>
              <a:spcBef>
                <a:spcPts val="0"/>
              </a:spcBef>
              <a:defRPr sz="700" b="0">
                <a:solidFill>
                  <a:srgbClr val="0F172A"/>
                </a:solidFill>
                <a:latin typeface="Segoe UI"/>
              </a:defRPr>
            </a:pPr>
            <a:r>
              <a:t>Heterogeneous CCTV systems (Hikvision, Dahua, CP Plus, Honeywell) use proprietary filesystems (DHFS, HIK, WFS). Missing codecs and corrupt sectors delay forensics by 7–30 days.</a:t>
            </a:r>
          </a:p>
        </p:txBody>
      </p:sp>
      <p:sp>
        <p:nvSpPr>
          <p:cNvPr id="90" name="Google Shape;90;p16"/>
          <p:cNvSpPr/>
          <p:nvPr/>
        </p:nvSpPr>
        <p:spPr>
          <a:xfrm>
            <a:off x="205740" y="1968246"/>
            <a:ext cx="2640330" cy="720090"/>
          </a:xfrm>
          <a:prstGeom prst="rect">
            <a:avLst/>
          </a:prstGeom>
          <a:solidFill>
            <a:srgbClr val="FADBD8"/>
          </a:solidFill>
          <a:ln w="12700" cap="flat" cmpd="sng">
            <a:solidFill>
              <a:srgbClr val="C0392B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308610" y="2023110"/>
            <a:ext cx="2434590" cy="61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100"/>
              </a:spcAft>
              <a:defRPr sz="780" b="1">
                <a:solidFill>
                  <a:srgbClr val="B91C1C"/>
                </a:solidFill>
                <a:latin typeface="Segoe UI"/>
              </a:defRPr>
            </a:pPr>
            <a:r>
              <a:t>Gap In Existing Solutions:</a:t>
            </a:r>
          </a:p>
          <a:p>
            <a:pPr>
              <a:spcBef>
                <a:spcPts val="0"/>
              </a:spcBef>
              <a:defRPr sz="700" b="0">
                <a:solidFill>
                  <a:srgbClr val="0F172A"/>
                </a:solidFill>
                <a:latin typeface="Segoe UI"/>
              </a:defRPr>
            </a:pPr>
            <a:r>
              <a:t>Legacy tools lack multi-vendor extraction, corrupt video frames, cost ₹25–40L/yr, and offer zero autonomous AI voice assistance during active on-scene raids.</a:t>
            </a:r>
          </a:p>
        </p:txBody>
      </p:sp>
      <p:sp>
        <p:nvSpPr>
          <p:cNvPr id="92" name="Google Shape;92;p16"/>
          <p:cNvSpPr/>
          <p:nvPr/>
        </p:nvSpPr>
        <p:spPr>
          <a:xfrm>
            <a:off x="205740" y="2770632"/>
            <a:ext cx="2640330" cy="720090"/>
          </a:xfrm>
          <a:prstGeom prst="rect">
            <a:avLst/>
          </a:prstGeom>
          <a:solidFill>
            <a:srgbClr val="E8DAEF"/>
          </a:solidFill>
          <a:ln w="12700" cap="flat" cmpd="sng">
            <a:solidFill>
              <a:srgbClr val="6C348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308610" y="2825496"/>
            <a:ext cx="2434590" cy="61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100"/>
              </a:spcAft>
              <a:defRPr sz="780" b="1">
                <a:solidFill>
                  <a:srgbClr val="0B1F3A"/>
                </a:solidFill>
                <a:latin typeface="Segoe UI"/>
              </a:defRPr>
            </a:pPr>
            <a:r>
              <a:t>Scale Of The Problem:</a:t>
            </a:r>
          </a:p>
          <a:p>
            <a:pPr>
              <a:spcBef>
                <a:spcPts val="0"/>
              </a:spcBef>
              <a:defRPr sz="700" b="0">
                <a:solidFill>
                  <a:srgbClr val="0F172A"/>
                </a:solidFill>
                <a:latin typeface="Segoe UI"/>
              </a:defRPr>
            </a:pPr>
            <a:r>
              <a:t>Affects 16,000+ police stations, state cyber cells, NIA, NCB, and central agencies analyzing thousands of crime-scene CCTV hard drives nationwide.</a:t>
            </a:r>
          </a:p>
        </p:txBody>
      </p:sp>
      <p:sp>
        <p:nvSpPr>
          <p:cNvPr id="94" name="Google Shape;94;p16"/>
          <p:cNvSpPr/>
          <p:nvPr/>
        </p:nvSpPr>
        <p:spPr>
          <a:xfrm>
            <a:off x="205740" y="3573018"/>
            <a:ext cx="2640330" cy="720090"/>
          </a:xfrm>
          <a:prstGeom prst="rect">
            <a:avLst/>
          </a:prstGeom>
          <a:solidFill>
            <a:srgbClr val="D6EAF8"/>
          </a:solidFill>
          <a:ln w="12700" cap="flat" cmpd="sng">
            <a:solidFill>
              <a:srgbClr val="1F618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308610" y="3627882"/>
            <a:ext cx="2434590" cy="61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100"/>
              </a:spcAft>
              <a:defRPr sz="780" b="1">
                <a:solidFill>
                  <a:srgbClr val="1D4ED8"/>
                </a:solidFill>
                <a:latin typeface="Segoe UI"/>
              </a:defRPr>
            </a:pPr>
            <a:r>
              <a:t>Consequence If Unsolved:</a:t>
            </a:r>
          </a:p>
          <a:p>
            <a:pPr>
              <a:spcBef>
                <a:spcPts val="0"/>
              </a:spcBef>
              <a:defRPr sz="700" b="0">
                <a:solidFill>
                  <a:srgbClr val="0F172A"/>
                </a:solidFill>
                <a:latin typeface="Segoe UI"/>
              </a:defRPr>
            </a:pPr>
            <a:r>
              <a:t>Inadmissible electronic video evidence, lost deleted footage from overwritten DVR sectors, delayed kingpin identification, and fugitives escaping justice.</a:t>
            </a:r>
          </a:p>
        </p:txBody>
      </p:sp>
      <p:sp>
        <p:nvSpPr>
          <p:cNvPr id="96" name="Google Shape;96;p16"/>
          <p:cNvSpPr txBox="1"/>
          <p:nvPr/>
        </p:nvSpPr>
        <p:spPr>
          <a:xfrm>
            <a:off x="3017520" y="857250"/>
            <a:ext cx="264033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96F3D"/>
              </a:buClr>
              <a:buSzPts val="1200"/>
              <a:buFont typeface="Cambria"/>
              <a:buNone/>
              <a:defRPr sz="1050" b="1">
                <a:solidFill>
                  <a:srgbClr val="0B1F3A"/>
                </a:solidFill>
                <a:latin typeface="Segoe UI"/>
              </a:defRPr>
            </a:pPr>
            <a:r>
              <a:t>Our Solution — SIH26150 Architecture</a:t>
            </a:r>
            <a:endParaRPr sz="12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3017520" y="1165860"/>
            <a:ext cx="2640330" cy="1303020"/>
          </a:xfrm>
          <a:prstGeom prst="rect">
            <a:avLst/>
          </a:prstGeom>
          <a:solidFill>
            <a:srgbClr val="1B263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3154680" y="1268730"/>
            <a:ext cx="236601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800" b="1">
                <a:solidFill>
                  <a:srgbClr val="0F766E"/>
                </a:solidFill>
              </a:defRPr>
            </a:pPr>
            <a:r>
              <a:t>System Model: Multi-Vendor DVR + Agentic Voice AI</a:t>
            </a:r>
          </a:p>
        </p:txBody>
      </p:sp>
      <p:sp>
        <p:nvSpPr>
          <p:cNvPr id="101" name="Google Shape;101;p16"/>
          <p:cNvSpPr txBox="1"/>
          <p:nvPr/>
        </p:nvSpPr>
        <p:spPr>
          <a:xfrm>
            <a:off x="3017520" y="2606040"/>
            <a:ext cx="264033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6F1E"/>
              </a:buClr>
              <a:buSzPts val="1100"/>
              <a:buFont typeface="Cambria"/>
              <a:buNone/>
              <a:defRPr sz="1050" b="1">
                <a:solidFill>
                  <a:srgbClr val="0B1F3A"/>
                </a:solidFill>
                <a:latin typeface="Segoe UI"/>
              </a:defRPr>
            </a:pPr>
            <a:r>
              <a:t>Why We Stand Out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3017520" y="2880360"/>
            <a:ext cx="2640330" cy="1611630"/>
          </a:xfrm>
          <a:prstGeom prst="rect">
            <a:avLst/>
          </a:prstGeom>
          <a:solidFill>
            <a:srgbClr val="FEF9E7"/>
          </a:solidFill>
          <a:ln w="12700" cap="flat" cmpd="sng">
            <a:solidFill>
              <a:srgbClr val="D4AC0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3140964" y="2983230"/>
            <a:ext cx="2393442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tIns="54864" rIns="73152" bIns="54864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100"/>
              </a:spcAft>
              <a:defRPr sz="720" b="1">
                <a:solidFill>
                  <a:srgbClr val="1D4ED8"/>
                </a:solidFill>
                <a:latin typeface="Segoe UI"/>
              </a:defRPr>
            </a:pPr>
            <a:r>
              <a:t>• Differentiator 1 — Standardized Multi-Vendor DVR Ingestion: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680" b="0">
                <a:solidFill>
                  <a:srgbClr val="0F172A"/>
                </a:solidFill>
                <a:latin typeface="Segoe UI"/>
              </a:defRPr>
            </a:pPr>
            <a:r>
              <a:t>Direct raw bitstream extraction supporting Hikvision, Dahua, CP Plus, Honeywell &amp; Uniview with write-blocker protection and zero timestamp contamination.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720" b="1">
                <a:solidFill>
                  <a:srgbClr val="0F766E"/>
                </a:solidFill>
                <a:latin typeface="Segoe UI"/>
              </a:defRPr>
            </a:pPr>
            <a:r>
              <a:t>• Differentiator 2 — Autonomous Agentic AI Voice Module: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680" b="0">
                <a:solidFill>
                  <a:srgbClr val="0F172A"/>
                </a:solidFill>
                <a:latin typeface="Segoe UI"/>
              </a:defRPr>
            </a:pPr>
            <a:r>
              <a:t>Siri-style independent voice agent (EN/HI/TA) with acoustic wave visualizer, spoken brevity (≤3 sentences), and autonomous tool-calling loop (get_fir, rank_suspects).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720" b="1">
                <a:solidFill>
                  <a:srgbClr val="0B1F3A"/>
                </a:solidFill>
                <a:latin typeface="Segoe UI"/>
              </a:defRPr>
            </a:pPr>
            <a:r>
              <a:t>• Differentiator 3 — Unstructured Data to Court-Admissible Proof: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680" b="0">
                <a:solidFill>
                  <a:srgbClr val="0F172A"/>
                </a:solidFill>
                <a:latin typeface="Segoe UI"/>
              </a:defRPr>
            </a:pPr>
            <a:r>
              <a:t>Bypasses proprietary wrappers to recover deleted H.264/H.265 frames, auto-generating SHA-256 custody certificates under BNS 2023 Sec 63 &amp; BSA Sec 65B.</a:t>
            </a:r>
          </a:p>
        </p:txBody>
      </p:sp>
      <p:sp>
        <p:nvSpPr>
          <p:cNvPr id="104" name="Google Shape;104;p16"/>
          <p:cNvSpPr txBox="1"/>
          <p:nvPr/>
        </p:nvSpPr>
        <p:spPr>
          <a:xfrm>
            <a:off x="5829300" y="857250"/>
            <a:ext cx="310873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618D"/>
              </a:buClr>
              <a:buSzPts val="1200"/>
              <a:buFont typeface="Cambria"/>
              <a:buNone/>
              <a:defRPr sz="1050" b="1">
                <a:solidFill>
                  <a:srgbClr val="0B1F3A"/>
                </a:solidFill>
              </a:defRPr>
            </a:pPr>
            <a:r>
              <a:t>Key Features</a:t>
            </a:r>
            <a:endParaRPr sz="12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5829300" y="1200150"/>
            <a:ext cx="233172" cy="233172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5829300" y="1200150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6144768" y="1172718"/>
            <a:ext cx="276583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100"/>
              </a:spcAft>
              <a:defRPr sz="750" b="1">
                <a:solidFill>
                  <a:srgbClr val="0B1F3A"/>
                </a:solidFill>
                <a:latin typeface="Segoe UI"/>
              </a:defRPr>
            </a:pPr>
            <a:r>
              <a:t>MOD-01: Live Surveillance &amp; Video Ingestion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0"/>
              </a:spcBef>
              <a:defRPr sz="680" b="0">
                <a:solidFill>
                  <a:srgbClr val="0F172A"/>
                </a:solidFill>
                <a:latin typeface="Segoe UI"/>
              </a:defRPr>
            </a:pPr>
            <a:r>
              <a:t>Sub-50ms multi-camera ingestion, OpenCV facial embedding vectors, and real-time stream.</a:t>
            </a:r>
          </a:p>
        </p:txBody>
      </p:sp>
      <p:sp>
        <p:nvSpPr>
          <p:cNvPr id="108" name="Google Shape;108;p16"/>
          <p:cNvSpPr/>
          <p:nvPr/>
        </p:nvSpPr>
        <p:spPr>
          <a:xfrm>
            <a:off x="5829300" y="1796796"/>
            <a:ext cx="233172" cy="233172"/>
          </a:xfrm>
          <a:prstGeom prst="ellipse">
            <a:avLst/>
          </a:prstGeom>
          <a:solidFill>
            <a:srgbClr val="196F3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5829300" y="1796796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6144768" y="1769364"/>
            <a:ext cx="276583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100"/>
              </a:spcAft>
              <a:defRPr sz="750" b="1">
                <a:solidFill>
                  <a:srgbClr val="1D4ED8"/>
                </a:solidFill>
                <a:latin typeface="Segoe UI"/>
              </a:defRPr>
            </a:pPr>
            <a:r>
              <a:t>MOD-02: Multi-Vendor DVR/NVR Forensics (SIH26150)</a:t>
            </a:r>
            <a:endParaRPr sz="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>
              <a:spcBef>
                <a:spcPts val="0"/>
              </a:spcBef>
              <a:defRPr sz="680" b="0">
                <a:solidFill>
                  <a:srgbClr val="0F172A"/>
                </a:solidFill>
                <a:latin typeface="Segoe UI"/>
              </a:defRPr>
            </a:pPr>
            <a:r>
              <a:t>Standardized acquisition across Hikvision, Dahua, CP Plus, Honeywell &amp; 131k sector carving.</a:t>
            </a:r>
          </a:p>
        </p:txBody>
      </p:sp>
      <p:sp>
        <p:nvSpPr>
          <p:cNvPr id="111" name="Google Shape;111;p16"/>
          <p:cNvSpPr/>
          <p:nvPr/>
        </p:nvSpPr>
        <p:spPr>
          <a:xfrm>
            <a:off x="5829300" y="2393442"/>
            <a:ext cx="233172" cy="233172"/>
          </a:xfrm>
          <a:prstGeom prst="ellipse">
            <a:avLst/>
          </a:prstGeom>
          <a:solidFill>
            <a:srgbClr val="CA6F1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5829300" y="2393442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6144768" y="2366010"/>
            <a:ext cx="276583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100"/>
              </a:spcAft>
              <a:defRPr sz="750" b="1">
                <a:solidFill>
                  <a:srgbClr val="0B1F3A"/>
                </a:solidFill>
                <a:latin typeface="Segoe UI"/>
              </a:defRPr>
            </a:pPr>
            <a:r>
              <a:t>MOD-03: GNN Syndicate Intel &amp; Graph Mapping</a:t>
            </a:r>
            <a:endParaRPr sz="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>
              <a:spcBef>
                <a:spcPts val="0"/>
              </a:spcBef>
              <a:defRPr sz="680" b="0">
                <a:solidFill>
                  <a:srgbClr val="0F172A"/>
                </a:solidFill>
                <a:latin typeface="Segoe UI"/>
              </a:defRPr>
            </a:pPr>
            <a:r>
              <a:t>Spectral GCN maps suspect networks with 98.6% precision &amp; Betweenness Centrality.</a:t>
            </a:r>
          </a:p>
        </p:txBody>
      </p:sp>
      <p:sp>
        <p:nvSpPr>
          <p:cNvPr id="114" name="Google Shape;114;p16"/>
          <p:cNvSpPr/>
          <p:nvPr/>
        </p:nvSpPr>
        <p:spPr>
          <a:xfrm>
            <a:off x="5829300" y="2990088"/>
            <a:ext cx="233172" cy="2331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829300" y="2990088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6144768" y="2962656"/>
            <a:ext cx="276583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100"/>
              </a:spcAft>
              <a:defRPr sz="750" b="1">
                <a:solidFill>
                  <a:srgbClr val="0B1F3A"/>
                </a:solidFill>
                <a:latin typeface="Segoe UI"/>
              </a:defRPr>
            </a:pPr>
            <a:r>
              <a:t>MOD-04: ERSS Patrol Mesh &amp; GIS Grid</a:t>
            </a:r>
            <a:endParaRPr sz="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>
              <a:spcBef>
                <a:spcPts val="0"/>
              </a:spcBef>
              <a:defRPr sz="680" b="0">
                <a:solidFill>
                  <a:srgbClr val="0F172A"/>
                </a:solidFill>
                <a:latin typeface="Segoe UI"/>
              </a:defRPr>
            </a:pPr>
            <a:r>
              <a:t>Interactive GIS map with touch tracking, Haversine distance, dynamic ETA &amp; rapid dispatch.</a:t>
            </a:r>
          </a:p>
        </p:txBody>
      </p:sp>
      <p:sp>
        <p:nvSpPr>
          <p:cNvPr id="117" name="Google Shape;117;p16"/>
          <p:cNvSpPr/>
          <p:nvPr/>
        </p:nvSpPr>
        <p:spPr>
          <a:xfrm>
            <a:off x="5829300" y="3586734"/>
            <a:ext cx="233172" cy="233172"/>
          </a:xfrm>
          <a:prstGeom prst="ellipse">
            <a:avLst/>
          </a:prstGeom>
          <a:solidFill>
            <a:srgbClr val="6C348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829300" y="3586734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6144768" y="3559302"/>
            <a:ext cx="276583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100"/>
              </a:spcAft>
              <a:defRPr sz="750" b="1">
                <a:solidFill>
                  <a:srgbClr val="0B1F3A"/>
                </a:solidFill>
                <a:latin typeface="Segoe UI"/>
              </a:defRPr>
            </a:pPr>
            <a:r>
              <a:t>MOD-05: Tactical Hardware Console</a:t>
            </a:r>
          </a:p>
          <a:p>
            <a:pPr>
              <a:spcBef>
                <a:spcPts val="0"/>
              </a:spcBef>
              <a:defRPr sz="680" b="0">
                <a:solidFill>
                  <a:srgbClr val="0F172A"/>
                </a:solidFill>
                <a:latin typeface="Segoe UI"/>
              </a:defRPr>
            </a:pPr>
            <a:r>
              <a:t>Physical write-blocker locks, multi-bus selector (PCIe/SATA/USB), raw hex bitstream dump.</a:t>
            </a:r>
          </a:p>
        </p:txBody>
      </p:sp>
      <p:sp>
        <p:nvSpPr>
          <p:cNvPr id="120" name="Google Shape;120;p16"/>
          <p:cNvSpPr/>
          <p:nvPr/>
        </p:nvSpPr>
        <p:spPr>
          <a:xfrm>
            <a:off x="5829300" y="4183380"/>
            <a:ext cx="233172" cy="233172"/>
          </a:xfrm>
          <a:prstGeom prst="ellipse">
            <a:avLst/>
          </a:prstGeom>
          <a:solidFill>
            <a:srgbClr val="1B263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829300" y="4183380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6144768" y="4155948"/>
            <a:ext cx="276583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100"/>
              </a:spcAft>
              <a:defRPr sz="750" b="1">
                <a:solidFill>
                  <a:srgbClr val="0F766E"/>
                </a:solidFill>
                <a:latin typeface="Segoe UI"/>
              </a:defRPr>
            </a:pPr>
            <a:r>
              <a:t>MOD-06: Agentic AI Voice Module (Case Copilot)</a:t>
            </a:r>
            <a:endParaRPr sz="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>
              <a:spcBef>
                <a:spcPts val="0"/>
              </a:spcBef>
              <a:defRPr sz="680" b="0">
                <a:solidFill>
                  <a:srgbClr val="0F172A"/>
                </a:solidFill>
                <a:latin typeface="Segoe UI"/>
              </a:defRPr>
            </a:pPr>
            <a:r>
              <a:t>Siri voice agent, multilingual NLP, auto BNSS 94/107 drafts &amp; 100% benchmark accuracy.</a:t>
            </a:r>
          </a:p>
        </p:txBody>
      </p:sp>
      <p:pic>
        <p:nvPicPr>
          <p:cNvPr id="123" name="Picture 122" descr="facial_recognition_ncrb_ui_178818851222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0000" y="1320000"/>
            <a:ext cx="2600000" cy="124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/>
        </p:nvSpPr>
        <p:spPr>
          <a:xfrm>
            <a:off x="295923" y="164592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96F3D"/>
              </a:buClr>
              <a:buSzPts val="1100"/>
              <a:defRPr sz="1100" b="1">
                <a:solidFill>
                  <a:srgbClr val="196F3D"/>
                </a:solidFill>
                <a:latin typeface="Times New Roman"/>
              </a:defRPr>
            </a:pPr>
            <a:r>
              <a:t>NCIS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1982991" y="3429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1300" b="1">
                <a:solidFill>
                  <a:srgbClr val="0B1F3A"/>
                </a:solidFill>
                <a:latin typeface="Segoe UI"/>
              </a:defRPr>
            </a:pPr>
            <a:r>
              <a:t>TECHNICAL APPROACH &amp; PIPELINE (SIH26150 MULTI-VENDOR DVR TO AGENTIC ACTION)</a:t>
            </a:r>
          </a:p>
        </p:txBody>
      </p:sp>
      <p:pic>
        <p:nvPicPr>
          <p:cNvPr id="132" name="Google Shape;132;p17" descr="/home/claude/sih2026_v2/assets/sih_logo_fu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83830" y="96012"/>
            <a:ext cx="1152144" cy="5417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17"/>
          <p:cNvCxnSpPr/>
          <p:nvPr/>
        </p:nvCxnSpPr>
        <p:spPr>
          <a:xfrm>
            <a:off x="205740" y="720090"/>
            <a:ext cx="8732291" cy="0"/>
          </a:xfrm>
          <a:prstGeom prst="straightConnector1">
            <a:avLst/>
          </a:prstGeom>
          <a:noFill/>
          <a:ln w="15875" cap="flat" cmpd="sng">
            <a:solidFill>
              <a:srgbClr val="2C3E5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4" name="Google Shape;134;p17"/>
          <p:cNvSpPr txBox="1"/>
          <p:nvPr/>
        </p:nvSpPr>
        <p:spPr>
          <a:xfrm>
            <a:off x="205740" y="4924044"/>
            <a:ext cx="48006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700" b="0">
                <a:solidFill>
                  <a:srgbClr val="707B7C"/>
                </a:solidFill>
                <a:latin typeface="Calibri"/>
              </a:defRPr>
            </a:pPr>
            <a:r>
              <a:t>SIH 2026 — Idea Submission — NCIS</a:t>
            </a:r>
          </a:p>
        </p:txBody>
      </p:sp>
      <p:sp>
        <p:nvSpPr>
          <p:cNvPr id="135" name="Google Shape;135;p17"/>
          <p:cNvSpPr txBox="1"/>
          <p:nvPr/>
        </p:nvSpPr>
        <p:spPr>
          <a:xfrm>
            <a:off x="8641080" y="4924044"/>
            <a:ext cx="29489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707B7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577101" y="857250"/>
            <a:ext cx="1405890" cy="651510"/>
          </a:xfrm>
          <a:prstGeom prst="rect">
            <a:avLst/>
          </a:prstGeom>
          <a:solidFill>
            <a:srgbClr val="D6EAF8"/>
          </a:solidFill>
          <a:ln w="15875" cap="flat" cmpd="sng">
            <a:solidFill>
              <a:srgbClr val="1F61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645681" y="925830"/>
            <a:ext cx="192024" cy="192024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45681" y="925830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645681" y="1134999"/>
            <a:ext cx="1296162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0" rIns="36576" bIns="0" anchor="t" anchorCtr="0">
            <a:noAutofit/>
          </a:bodyPr>
          <a:lstStyle/>
          <a:p>
            <a:pPr algn="ctr">
              <a:defRPr sz="720" b="1">
                <a:solidFill>
                  <a:srgbClr val="0B1F3A"/>
                </a:solidFill>
                <a:latin typeface="Segoe UI"/>
              </a:defRPr>
            </a:pPr>
            <a:r>
              <a:t>1. Multi-Vendor DVR</a:t>
            </a:r>
          </a:p>
          <a:p>
            <a:pPr algn="ctr">
              <a:defRPr sz="720" b="1">
                <a:solidFill>
                  <a:srgbClr val="0B1F3A"/>
                </a:solidFill>
                <a:latin typeface="Segoe UI"/>
              </a:defRPr>
            </a:pPr>
            <a:r>
              <a:t>Acquisition (SIH26150)</a:t>
            </a:r>
          </a:p>
        </p:txBody>
      </p:sp>
      <p:sp>
        <p:nvSpPr>
          <p:cNvPr id="140" name="Google Shape;140;p17"/>
          <p:cNvSpPr txBox="1"/>
          <p:nvPr/>
        </p:nvSpPr>
        <p:spPr>
          <a:xfrm>
            <a:off x="1982991" y="857250"/>
            <a:ext cx="24003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2223021" y="857250"/>
            <a:ext cx="1405890" cy="651510"/>
          </a:xfrm>
          <a:prstGeom prst="rect">
            <a:avLst/>
          </a:prstGeom>
          <a:solidFill>
            <a:srgbClr val="D6EAF8"/>
          </a:solidFill>
          <a:ln w="15875" cap="flat" cmpd="sng">
            <a:solidFill>
              <a:srgbClr val="196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/>
          </a:p>
        </p:txBody>
      </p:sp>
      <p:sp>
        <p:nvSpPr>
          <p:cNvPr id="142" name="Google Shape;142;p17"/>
          <p:cNvSpPr/>
          <p:nvPr/>
        </p:nvSpPr>
        <p:spPr>
          <a:xfrm>
            <a:off x="2291601" y="925830"/>
            <a:ext cx="192024" cy="192024"/>
          </a:xfrm>
          <a:prstGeom prst="ellipse">
            <a:avLst/>
          </a:prstGeom>
          <a:solidFill>
            <a:srgbClr val="196F3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2291601" y="925830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3628911" y="857250"/>
            <a:ext cx="24003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3868941" y="857250"/>
            <a:ext cx="1405890" cy="651510"/>
          </a:xfrm>
          <a:prstGeom prst="rect">
            <a:avLst/>
          </a:prstGeom>
          <a:solidFill>
            <a:srgbClr val="D6EAF8"/>
          </a:solidFill>
          <a:ln w="15875" cap="flat" cmpd="sng">
            <a:solidFill>
              <a:srgbClr val="CA6F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3937521" y="925830"/>
            <a:ext cx="192024" cy="192024"/>
          </a:xfrm>
          <a:prstGeom prst="ellipse">
            <a:avLst/>
          </a:prstGeom>
          <a:solidFill>
            <a:srgbClr val="CA6F1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3937521" y="925830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3914718" y="1134999"/>
            <a:ext cx="1296162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0" rIns="36576" bIns="0" anchor="t" anchorCtr="0">
            <a:noAutofit/>
          </a:bodyPr>
          <a:lstStyle/>
          <a:p>
            <a:pPr algn="ctr">
              <a:defRPr sz="720" b="1">
                <a:solidFill>
                  <a:srgbClr val="0B1F3A"/>
                </a:solidFill>
                <a:latin typeface="Segoe UI"/>
              </a:defRPr>
            </a:pPr>
            <a:r>
              <a:t>3. Agentic AI Voice &amp;</a:t>
            </a:r>
          </a:p>
          <a:p>
            <a:pPr algn="ctr">
              <a:defRPr sz="720" b="1">
                <a:solidFill>
                  <a:srgbClr val="0B1F3A"/>
                </a:solidFill>
                <a:latin typeface="Segoe UI"/>
              </a:defRPr>
            </a:pPr>
            <a:r>
              <a:t>Copilot Reasoning Loop</a:t>
            </a:r>
          </a:p>
        </p:txBody>
      </p:sp>
      <p:sp>
        <p:nvSpPr>
          <p:cNvPr id="150" name="Google Shape;150;p17"/>
          <p:cNvSpPr txBox="1"/>
          <p:nvPr/>
        </p:nvSpPr>
        <p:spPr>
          <a:xfrm>
            <a:off x="5274831" y="857250"/>
            <a:ext cx="24003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514861" y="857250"/>
            <a:ext cx="1405890" cy="651510"/>
          </a:xfrm>
          <a:prstGeom prst="rect">
            <a:avLst/>
          </a:prstGeom>
          <a:solidFill>
            <a:srgbClr val="D6EAF8"/>
          </a:solidFill>
          <a:ln w="15875" cap="flat" cmpd="sng">
            <a:solidFill>
              <a:srgbClr val="6C34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583441" y="925830"/>
            <a:ext cx="192024" cy="192024"/>
          </a:xfrm>
          <a:prstGeom prst="ellipse">
            <a:avLst/>
          </a:prstGeom>
          <a:solidFill>
            <a:srgbClr val="6C348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583441" y="925830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5569725" y="1159002"/>
            <a:ext cx="1296162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0" rIns="36576" bIns="0" anchor="t" anchorCtr="0">
            <a:noAutofit/>
          </a:bodyPr>
          <a:lstStyle/>
          <a:p>
            <a:pPr algn="ctr">
              <a:defRPr sz="720" b="1">
                <a:solidFill>
                  <a:srgbClr val="0B1F3A"/>
                </a:solidFill>
                <a:latin typeface="Segoe UI"/>
              </a:defRPr>
            </a:pPr>
            <a:r>
              <a:t>4. Spectral GCN</a:t>
            </a:r>
          </a:p>
          <a:p>
            <a:pPr algn="ctr">
              <a:defRPr sz="720" b="1">
                <a:solidFill>
                  <a:srgbClr val="0B1F3A"/>
                </a:solidFill>
                <a:latin typeface="Segoe UI"/>
              </a:defRPr>
            </a:pPr>
            <a:r>
              <a:t>Topology Engine (98.6%)</a:t>
            </a:r>
          </a:p>
        </p:txBody>
      </p:sp>
      <p:sp>
        <p:nvSpPr>
          <p:cNvPr id="155" name="Google Shape;155;p17"/>
          <p:cNvSpPr txBox="1"/>
          <p:nvPr/>
        </p:nvSpPr>
        <p:spPr>
          <a:xfrm>
            <a:off x="6920751" y="857250"/>
            <a:ext cx="24003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7160781" y="857250"/>
            <a:ext cx="1405890" cy="651510"/>
          </a:xfrm>
          <a:prstGeom prst="rect">
            <a:avLst/>
          </a:prstGeom>
          <a:solidFill>
            <a:srgbClr val="D6EAF8"/>
          </a:solidFill>
          <a:ln w="1587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7229361" y="925830"/>
            <a:ext cx="192024" cy="19202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7229361" y="925830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7215645" y="1159002"/>
            <a:ext cx="1296162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0" rIns="36576" bIns="0" anchor="t" anchorCtr="0">
            <a:noAutofit/>
          </a:bodyPr>
          <a:lstStyle/>
          <a:p>
            <a:pPr algn="ctr">
              <a:defRPr sz="720" b="1">
                <a:solidFill>
                  <a:srgbClr val="0B1F3A"/>
                </a:solidFill>
                <a:latin typeface="Segoe UI"/>
              </a:defRPr>
            </a:pPr>
            <a:r>
              <a:t>5. Dual ERSS Mesh &amp;</a:t>
            </a:r>
          </a:p>
          <a:p>
            <a:pPr algn="ctr">
              <a:defRPr sz="720" b="1">
                <a:solidFill>
                  <a:srgbClr val="0B1F3A"/>
                </a:solidFill>
                <a:latin typeface="Segoe UI"/>
              </a:defRPr>
            </a:pPr>
            <a:r>
              <a:t>BNSS 63 Judicial Seal</a:t>
            </a:r>
          </a:p>
        </p:txBody>
      </p:sp>
      <p:sp>
        <p:nvSpPr>
          <p:cNvPr id="161" name="Google Shape;161;p17"/>
          <p:cNvSpPr/>
          <p:nvPr/>
        </p:nvSpPr>
        <p:spPr>
          <a:xfrm>
            <a:off x="205740" y="1885950"/>
            <a:ext cx="2773601" cy="1371600"/>
          </a:xfrm>
          <a:prstGeom prst="rect">
            <a:avLst/>
          </a:prstGeom>
          <a:solidFill>
            <a:srgbClr val="FEF9E7"/>
          </a:solidFill>
          <a:ln w="12700" cap="flat" cmpd="sng">
            <a:solidFill>
              <a:srgbClr val="D4AC0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308610" y="1954530"/>
            <a:ext cx="256786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6F1E"/>
              </a:buClr>
              <a:buSzPts val="1000"/>
              <a:buFont typeface="Cambria"/>
              <a:buNone/>
              <a:defRPr sz="900" b="1">
                <a:solidFill>
                  <a:srgbClr val="0B1F3A"/>
                </a:solidFill>
                <a:latin typeface="Segoe UI"/>
              </a:defRPr>
            </a:pPr>
            <a:r>
              <a:t>Tech Stack &amp; Hardware Bus</a:t>
            </a:r>
            <a:endParaRPr sz="1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308610" y="2228850"/>
            <a:ext cx="2567864" cy="100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100"/>
              </a:spcAft>
              <a:defRPr sz="680" b="0">
                <a:solidFill>
                  <a:srgbClr val="0F172A"/>
                </a:solidFill>
                <a:latin typeface="Segoe UI"/>
              </a:defRPr>
            </a:pPr>
            <a:r>
              <a:t>• Forensics : SIH26150 Multi-Vendor DVR Tool, Hardware Bus (PCIe, SATA, USB)</a:t>
            </a:r>
            <a:endParaRPr sz="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>
              <a:spcAft>
                <a:spcPts val="100"/>
              </a:spcAft>
              <a:defRPr sz="680" b="0">
                <a:solidFill>
                  <a:srgbClr val="0F172A"/>
                </a:solidFill>
                <a:latin typeface="Segoe UI"/>
              </a:defRPr>
            </a:pPr>
            <a:r>
              <a:t>• AI/ML/NLP : Hailo NPU (26 TOPS), PyG Spectral GCN (98.6%), Legal SpaCy NER</a:t>
            </a:r>
          </a:p>
          <a:p>
            <a:pPr>
              <a:spcAft>
                <a:spcPts val="100"/>
              </a:spcAft>
              <a:defRPr sz="680" b="0">
                <a:solidFill>
                  <a:srgbClr val="0F172A"/>
                </a:solidFill>
                <a:latin typeface="Segoe UI"/>
              </a:defRPr>
            </a:pPr>
            <a:r>
              <a:t>• Frontend  : React 18, Tailwind CSS, Apple iOS Glassmorphism, Web Speech API</a:t>
            </a:r>
          </a:p>
          <a:p>
            <a:pPr>
              <a:spcAft>
                <a:spcPts val="100"/>
              </a:spcAft>
              <a:defRPr sz="680" b="0">
                <a:solidFill>
                  <a:srgbClr val="0F172A"/>
                </a:solidFill>
                <a:latin typeface="Segoe UI"/>
              </a:defRPr>
            </a:pPr>
            <a:r>
              <a:t>• Backend   : Python FastAPI async, OpenCV Headless, Redis Pub/Sub, PostgreSQL</a:t>
            </a:r>
          </a:p>
        </p:txBody>
      </p:sp>
      <p:sp>
        <p:nvSpPr>
          <p:cNvPr id="164" name="Google Shape;164;p17"/>
          <p:cNvSpPr/>
          <p:nvPr/>
        </p:nvSpPr>
        <p:spPr>
          <a:xfrm>
            <a:off x="3185083" y="1885950"/>
            <a:ext cx="2773603" cy="1371600"/>
          </a:xfrm>
          <a:prstGeom prst="rect">
            <a:avLst/>
          </a:prstGeom>
          <a:solidFill>
            <a:srgbClr val="D6EAF8"/>
          </a:solidFill>
          <a:ln w="12700" cap="flat" cmpd="sng">
            <a:solidFill>
              <a:srgbClr val="1F618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3287953" y="1954530"/>
            <a:ext cx="256786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618D"/>
              </a:buClr>
              <a:buSzPts val="1000"/>
              <a:buFont typeface="Cambria"/>
              <a:buNone/>
              <a:defRPr sz="900" b="1">
                <a:solidFill>
                  <a:srgbClr val="0B1F3A"/>
                </a:solidFill>
                <a:latin typeface="Segoe UI"/>
              </a:defRPr>
            </a:pPr>
            <a:r>
              <a:t>Unstructured Video &amp; Agentic AI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3287953" y="2228850"/>
            <a:ext cx="2567864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t" anchorCtr="0">
            <a:noAutofit/>
          </a:bodyPr>
          <a:lstStyle/>
          <a:p>
            <a:pPr marR="0" lvl="0" algn="l" rtl="0">
              <a:spcBef>
                <a:spcPts val="500"/>
              </a:spcBef>
              <a:spcAft>
                <a:spcPts val="100"/>
              </a:spcAft>
              <a:defRPr sz="680" b="0">
                <a:solidFill>
                  <a:srgbClr val="0F172A"/>
                </a:solidFill>
                <a:latin typeface="Segoe UI"/>
              </a:defRPr>
            </a:pPr>
            <a:r>
              <a:t>• Video Parsing: Decodes DHFS, HIK, WFS extracting H.264/H.265 frames in &lt;180s</a:t>
            </a:r>
            <a:endParaRPr lang="en" sz="800" b="0" i="0" u="none" strike="noStrike" cap="none" dirty="0">
              <a:solidFill>
                <a:srgbClr val="1B263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>
              <a:spcAft>
                <a:spcPts val="100"/>
              </a:spcAft>
              <a:defRPr sz="680" b="0">
                <a:solidFill>
                  <a:srgbClr val="0F172A"/>
                </a:solidFill>
                <a:latin typeface="Segoe UI"/>
              </a:defRPr>
            </a:pPr>
            <a:r>
              <a:t>• Voice Copilot: Siri Voice Orb Visualizer with multi-turn audio (EN, HI, TA)</a:t>
            </a:r>
          </a:p>
          <a:p>
            <a:pPr>
              <a:spcAft>
                <a:spcPts val="100"/>
              </a:spcAft>
              <a:defRPr sz="680" b="0">
                <a:solidFill>
                  <a:srgbClr val="0F172A"/>
                </a:solidFill>
                <a:latin typeface="Segoe UI"/>
              </a:defRPr>
            </a:pPr>
            <a:r>
              <a:t>• Spoken Voice : Concise replies strictly ≤3 sentences for tactical radio brevity</a:t>
            </a:r>
          </a:p>
          <a:p>
            <a:pPr>
              <a:spcAft>
                <a:spcPts val="100"/>
              </a:spcAft>
              <a:defRPr sz="680" b="0">
                <a:solidFill>
                  <a:srgbClr val="0F172A"/>
                </a:solidFill>
                <a:latin typeface="Segoe UI"/>
              </a:defRPr>
            </a:pPr>
            <a:r>
              <a:t>• Legal Engine : Auto-generates BNSS 2023 Sec 94/107 requisitions in under 5s</a:t>
            </a:r>
          </a:p>
        </p:txBody>
      </p:sp>
      <p:sp>
        <p:nvSpPr>
          <p:cNvPr id="167" name="Google Shape;167;p17"/>
          <p:cNvSpPr/>
          <p:nvPr/>
        </p:nvSpPr>
        <p:spPr>
          <a:xfrm>
            <a:off x="6164428" y="1885949"/>
            <a:ext cx="2773604" cy="1371599"/>
          </a:xfrm>
          <a:prstGeom prst="rect">
            <a:avLst/>
          </a:prstGeom>
          <a:solidFill>
            <a:srgbClr val="D5F5E3"/>
          </a:solidFill>
          <a:ln w="12700" cap="flat" cmpd="sng">
            <a:solidFill>
              <a:srgbClr val="196F3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267298" y="1954530"/>
            <a:ext cx="256786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6F3D"/>
              </a:buClr>
              <a:buSzPts val="1000"/>
              <a:buFont typeface="Cambria"/>
              <a:buNone/>
              <a:defRPr sz="900" b="1">
                <a:solidFill>
                  <a:srgbClr val="0B1F3A"/>
                </a:solidFill>
                <a:latin typeface="Segoe UI"/>
              </a:defRPr>
            </a:pPr>
            <a:r>
              <a:t>Production Status &amp; 50-Case Eval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6267298" y="2228850"/>
            <a:ext cx="2567864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t" anchorCtr="0">
            <a:noAutofit/>
          </a:bodyPr>
          <a:lstStyle/>
          <a:p>
            <a:pPr marR="0" lvl="0" algn="l" rtl="0">
              <a:spcBef>
                <a:spcPts val="500"/>
              </a:spcBef>
              <a:spcAft>
                <a:spcPts val="100"/>
              </a:spcAft>
              <a:defRPr sz="680" b="0">
                <a:solidFill>
                  <a:srgbClr val="0F172A"/>
                </a:solidFill>
                <a:latin typeface="Segoe UI"/>
              </a:defRPr>
            </a:pPr>
            <a:r>
              <a:t>• Deployment : 100% Live production portal at cyber-kit-police.vercel.app</a:t>
            </a:r>
            <a:endParaRPr lang="en" sz="800" b="0" i="0" u="none" strike="noStrike" cap="none" dirty="0">
              <a:solidFill>
                <a:srgbClr val="1B26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100"/>
              </a:spcAft>
              <a:defRPr sz="680" b="0">
                <a:solidFill>
                  <a:srgbClr val="0F172A"/>
                </a:solidFill>
                <a:latin typeface="Segoe UI"/>
              </a:defRPr>
            </a:pPr>
            <a:r>
              <a:t>• Architecture: 6 Operational Modules, Siri Voice Agent, Hailo NPU edge triage</a:t>
            </a:r>
          </a:p>
          <a:p>
            <a:pPr>
              <a:spcAft>
                <a:spcPts val="100"/>
              </a:spcAft>
              <a:defRPr sz="680" b="0">
                <a:solidFill>
                  <a:srgbClr val="0F172A"/>
                </a:solidFill>
                <a:latin typeface="Segoe UI"/>
              </a:defRPr>
            </a:pPr>
            <a:r>
              <a:t>• Benchmarks  : 100% Entity F1, 100% Kingpin Top-3, 100% Evidence Gap Recall</a:t>
            </a:r>
          </a:p>
          <a:p>
            <a:pPr>
              <a:spcAft>
                <a:spcPts val="100"/>
              </a:spcAft>
              <a:defRPr sz="680" b="0">
                <a:solidFill>
                  <a:srgbClr val="0F172A"/>
                </a:solidFill>
                <a:latin typeface="Segoe UI"/>
              </a:defRPr>
            </a:pPr>
            <a:r>
              <a:t>• Compliance  : Full adherence to BNSS 2023, BSA Sec 65B, BNS 63 &amp; DPDP 2023</a:t>
            </a:r>
          </a:p>
        </p:txBody>
      </p:sp>
      <p:sp>
        <p:nvSpPr>
          <p:cNvPr id="170" name="Google Shape;170;p17"/>
          <p:cNvSpPr txBox="1"/>
          <p:nvPr/>
        </p:nvSpPr>
        <p:spPr>
          <a:xfrm>
            <a:off x="205740" y="3326130"/>
            <a:ext cx="873229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1050" b="1">
                <a:solidFill>
                  <a:srgbClr val="0B1F3A"/>
                </a:solidFill>
                <a:latin typeface="Segoe UI"/>
              </a:defRPr>
            </a:pPr>
            <a:r>
              <a:t>Operational Platform: Live Interface + Agentic AI Voice Module &amp; Benchmark</a:t>
            </a:r>
          </a:p>
        </p:txBody>
      </p:sp>
      <p:pic>
        <p:nvPicPr>
          <p:cNvPr id="185" name="Picture 184" descr="technical_architecture_diagram_178818847923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" y="3559302"/>
            <a:ext cx="1851660" cy="1248156"/>
          </a:xfrm>
          <a:prstGeom prst="rect">
            <a:avLst/>
          </a:prstGeom>
        </p:spPr>
      </p:pic>
      <p:pic>
        <p:nvPicPr>
          <p:cNvPr id="186" name="Picture 18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12" y="3520440"/>
            <a:ext cx="4114800" cy="1298448"/>
          </a:xfrm>
          <a:prstGeom prst="rect">
            <a:avLst/>
          </a:prstGeom>
        </p:spPr>
      </p:pic>
      <p:sp>
        <p:nvSpPr>
          <p:cNvPr id="187" name="TextBox 186"/>
          <p:cNvSpPr txBox="1"/>
          <p:nvPr/>
        </p:nvSpPr>
        <p:spPr>
          <a:xfrm>
            <a:off x="4480560" y="3520440"/>
            <a:ext cx="4434840" cy="129844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1D4ED8"/>
                </a:solidFill>
                <a:latin typeface="Segoe UI"/>
              </a:defRPr>
            </a:pPr>
            <a:r>
              <a:t>AGENTIC AI VOICE MODULE &amp; SIH26150 HIGHLIGHTS:</a:t>
            </a:r>
          </a:p>
          <a:p>
            <a:pPr>
              <a:spcBef>
                <a:spcPts val="100"/>
              </a:spcBef>
              <a:defRPr sz="700" b="0">
                <a:solidFill>
                  <a:srgbClr val="0F172A"/>
                </a:solidFill>
                <a:latin typeface="Segoe UI"/>
              </a:defRPr>
            </a:pPr>
            <a:r>
              <a:t>• SIH26150 DVR Core: Standardized CCTV evidence recovery across Hikvision, Dahua, CP Plus &amp; Honeywell.</a:t>
            </a:r>
          </a:p>
          <a:p>
            <a:pPr>
              <a:spcBef>
                <a:spcPts val="100"/>
              </a:spcBef>
              <a:defRPr sz="700" b="0">
                <a:solidFill>
                  <a:srgbClr val="0F172A"/>
                </a:solidFill>
                <a:latin typeface="Segoe UI"/>
              </a:defRPr>
            </a:pPr>
            <a:r>
              <a:t>• Agentic Voice Loop: Siri-style glowing orb with dynamic soundwaves; spoken replies ≤3 sentences (EN/HI/TA).</a:t>
            </a:r>
          </a:p>
          <a:p>
            <a:pPr>
              <a:spcBef>
                <a:spcPts val="100"/>
              </a:spcBef>
              <a:defRPr sz="700" b="0">
                <a:solidFill>
                  <a:srgbClr val="0F172A"/>
                </a:solidFill>
                <a:latin typeface="Segoe UI"/>
              </a:defRPr>
            </a:pPr>
            <a:r>
              <a:t>• Autonomous Tools: Auto-executes get_fir → extract_entities → rank_suspects → list_evidence_gaps.</a:t>
            </a:r>
          </a:p>
          <a:p>
            <a:pPr>
              <a:spcBef>
                <a:spcPts val="100"/>
              </a:spcBef>
              <a:defRPr sz="700" b="0">
                <a:solidFill>
                  <a:srgbClr val="0F172A"/>
                </a:solidFill>
                <a:latin typeface="Segoe UI"/>
              </a:defRPr>
            </a:pPr>
            <a:r>
              <a:t>• Missing Evidence Radar: Flags pending CCTV footage, CDRs, bank freezes; drafts BNSS 94/107 notices in 5s.</a:t>
            </a:r>
          </a:p>
          <a:p>
            <a:pPr>
              <a:spcBef>
                <a:spcPts val="100"/>
              </a:spcBef>
              <a:defRPr sz="700" b="0">
                <a:solidFill>
                  <a:srgbClr val="0F172A"/>
                </a:solidFill>
                <a:latin typeface="Segoe UI"/>
              </a:defRPr>
            </a:pPr>
            <a:r>
              <a:t>• 50-Case Evaluation: 100% Entity F1, 100% Kingpin Top-3, 100% Evidence Gap Recall on ground-truth benchmark.</a:t>
            </a:r>
          </a:p>
        </p:txBody>
      </p:sp>
      <p:sp>
        <p:nvSpPr>
          <p:cNvPr id="190" name="Flowchart_Step_2_Text"/>
          <p:cNvSpPr txBox="1"/>
          <p:nvPr/>
        </p:nvSpPr>
        <p:spPr>
          <a:xfrm>
            <a:off x="2291601" y="1134999"/>
            <a:ext cx="1296162" cy="3086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B4353"/>
                </a:solidFill>
                <a:latin typeface="Segoe UI"/>
              </a:defRPr>
            </a:pPr>
            <a:r>
              <a:t>2. NLP Entity Extraction</a:t>
            </a:r>
          </a:p>
          <a:p>
            <a:pPr>
              <a:defRPr sz="800" b="1">
                <a:solidFill>
                  <a:srgbClr val="1B4353"/>
                </a:solidFill>
                <a:latin typeface="Segoe UI"/>
              </a:defRPr>
            </a:pPr>
            <a:r>
              <a:t>&amp; 128D Face Vectors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 txBox="1"/>
          <p:nvPr/>
        </p:nvSpPr>
        <p:spPr>
          <a:xfrm>
            <a:off x="353187" y="236601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96F3D"/>
              </a:buClr>
              <a:buSzPts val="1100"/>
              <a:defRPr sz="1100" b="1">
                <a:solidFill>
                  <a:srgbClr val="196F3D"/>
                </a:solidFill>
                <a:latin typeface="Times New Roman"/>
              </a:defRPr>
            </a:pPr>
            <a:r>
              <a:t>NCIS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1954530" y="6858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900"/>
              <a:buFont typeface="Cambria"/>
              <a:buNone/>
            </a:pPr>
            <a:r>
              <a:rPr lang="en" sz="1900" b="1" i="0" u="none" strike="noStrike" cap="none">
                <a:solidFill>
                  <a:srgbClr val="154360"/>
                </a:solidFill>
                <a:latin typeface="Cambria"/>
                <a:ea typeface="Cambria"/>
                <a:cs typeface="Cambria"/>
                <a:sym typeface="Cambria"/>
              </a:rPr>
              <a:t>FEASIBILITY AND VIABILITY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8" descr="/home/claude/sih2026_v2/assets/sih_logo_fu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83830" y="96012"/>
            <a:ext cx="1152144" cy="5417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18"/>
          <p:cNvCxnSpPr/>
          <p:nvPr/>
        </p:nvCxnSpPr>
        <p:spPr>
          <a:xfrm>
            <a:off x="205740" y="720090"/>
            <a:ext cx="8732291" cy="0"/>
          </a:xfrm>
          <a:prstGeom prst="straightConnector1">
            <a:avLst/>
          </a:prstGeom>
          <a:noFill/>
          <a:ln w="15875" cap="flat" cmpd="sng">
            <a:solidFill>
              <a:srgbClr val="2C3E5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96" name="Google Shape;196;p18"/>
          <p:cNvSpPr txBox="1"/>
          <p:nvPr/>
        </p:nvSpPr>
        <p:spPr>
          <a:xfrm>
            <a:off x="205740" y="4924044"/>
            <a:ext cx="48006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700" b="0">
                <a:solidFill>
                  <a:srgbClr val="707B7C"/>
                </a:solidFill>
                <a:latin typeface="Calibri"/>
              </a:defRPr>
            </a:pPr>
            <a:r>
              <a:t>SIH 2026 — Idea Submission — NCIS</a:t>
            </a:r>
          </a:p>
        </p:txBody>
      </p:sp>
      <p:sp>
        <p:nvSpPr>
          <p:cNvPr id="197" name="Google Shape;197;p18"/>
          <p:cNvSpPr txBox="1"/>
          <p:nvPr/>
        </p:nvSpPr>
        <p:spPr>
          <a:xfrm>
            <a:off x="8641080" y="4924044"/>
            <a:ext cx="29489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707B7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05740" y="857250"/>
            <a:ext cx="216027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6F1E"/>
              </a:buClr>
              <a:buSzPts val="1000"/>
              <a:buFont typeface="Cambria"/>
              <a:buNone/>
            </a:pPr>
            <a:r>
              <a:rPr lang="en" sz="1000" b="1" i="0" u="none" strike="noStrike" cap="none">
                <a:solidFill>
                  <a:srgbClr val="CA6F1E"/>
                </a:solidFill>
                <a:latin typeface="Cambria"/>
                <a:ea typeface="Cambria"/>
                <a:cs typeface="Cambria"/>
                <a:sym typeface="Cambria"/>
              </a:rPr>
              <a:t>Technical Feasibility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205740" y="1131570"/>
            <a:ext cx="2160270" cy="1145286"/>
          </a:xfrm>
          <a:prstGeom prst="rect">
            <a:avLst/>
          </a:prstGeom>
          <a:solidFill>
            <a:srgbClr val="FEF9E7"/>
          </a:solidFill>
          <a:ln w="12700" cap="flat" cmpd="sng">
            <a:solidFill>
              <a:srgbClr val="D4AC0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308610" y="1213866"/>
            <a:ext cx="1954530" cy="92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500"/>
              </a:spcBef>
              <a:spcAft>
                <a:spcPts val="0"/>
              </a:spcAft>
              <a:defRPr sz="720" b="0">
                <a:solidFill>
                  <a:srgbClr val="2C3E50"/>
                </a:solidFill>
                <a:latin typeface="Georgia"/>
              </a:defRPr>
            </a:pPr>
            <a:r>
              <a:t>• Skills Available: SIH26150 multi-vendor DVR parser, PyTorch Geometric, FastAPI, Web Speech API, React 18, Hailo NPU, Hardware Bus.</a:t>
            </a:r>
          </a:p>
          <a:p>
            <a:pPr>
              <a:defRPr sz="720" b="0">
                <a:solidFill>
                  <a:srgbClr val="2C3E50"/>
                </a:solidFill>
                <a:latin typeface="Georgia"/>
              </a:defRPr>
            </a:pPr>
            <a:r>
              <a:t>• Software Core: Cloud server real-time deployment with zero proprietary licensing costs &amp; agentic copilot loop.</a:t>
            </a:r>
          </a:p>
          <a:p>
            <a:pPr>
              <a:defRPr sz="720" b="0">
                <a:solidFill>
                  <a:srgbClr val="2C3E50"/>
                </a:solidFill>
                <a:latin typeface="Georgia"/>
              </a:defRPr>
            </a:pPr>
            <a:r>
              <a:t>• Hardware Extension: Field-grade tactical write-blocker terminal running on low-power 12V/5V DC rails.</a:t>
            </a:r>
          </a:p>
        </p:txBody>
      </p:sp>
      <p:sp>
        <p:nvSpPr>
          <p:cNvPr id="201" name="Google Shape;201;p18"/>
          <p:cNvSpPr txBox="1"/>
          <p:nvPr/>
        </p:nvSpPr>
        <p:spPr>
          <a:xfrm>
            <a:off x="2503170" y="857250"/>
            <a:ext cx="413743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000"/>
              <a:buFont typeface="Cambria"/>
              <a:buNone/>
            </a:pPr>
            <a:r>
              <a:rPr lang="en" sz="1000" b="1" i="0" u="none" strike="noStrike" cap="none">
                <a:solidFill>
                  <a:srgbClr val="154360"/>
                </a:solidFill>
                <a:latin typeface="Cambria"/>
                <a:ea typeface="Cambria"/>
                <a:cs typeface="Cambria"/>
                <a:sym typeface="Cambria"/>
              </a:rPr>
              <a:t>Economical Feasibility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p18"/>
          <p:cNvGraphicFramePr/>
          <p:nvPr>
            <p:extLst>
              <p:ext uri="{D42A27DB-BD31-4B8C-83A1-F6EECF244321}">
                <p14:modId xmlns:p14="http://schemas.microsoft.com/office/powerpoint/2010/main" val="2279849622"/>
              </p:ext>
            </p:extLst>
          </p:nvPr>
        </p:nvGraphicFramePr>
        <p:xfrm>
          <a:off x="2503170" y="1131570"/>
          <a:ext cx="4137400" cy="1462360"/>
        </p:xfrm>
        <a:graphic>
          <a:graphicData uri="http://schemas.openxmlformats.org/drawingml/2006/table">
            <a:tbl>
              <a:tblPr>
                <a:noFill/>
                <a:tableStyleId>{C1D32533-688B-44CF-B17B-B5C62E0AAADD}</a:tableStyleId>
              </a:tblPr>
              <a:tblGrid>
                <a:gridCol w="140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6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Georgia"/>
                        </a:rPr>
                        <a:t>Parameter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4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Georgia"/>
                        </a:rPr>
                        <a:t>Legacy Lab Systems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4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Georgia"/>
                        </a:rPr>
                        <a:t>AAROHAN-X Solution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43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Deployment Model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₹25–40 Lakhs/year per lab (Cellebrite/EnCase)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Free Open Core + Modular Cloud Deployment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Triage Speed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7 to 30 Days lab backlog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Real-Time Instant (&lt; 180s on-scene)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Network Graph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Manual whiteboards / siloed files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Spectral GCN Syndicate Graph (98.6%)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Legal Integrity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Manual paper chain of custody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BNS 2023 Sec 63 &amp; BSA Sec 65B SHA-256 Seal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3" name="Google Shape;203;p18"/>
          <p:cNvSpPr txBox="1"/>
          <p:nvPr/>
        </p:nvSpPr>
        <p:spPr>
          <a:xfrm>
            <a:off x="6777761" y="857250"/>
            <a:ext cx="216027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618D"/>
              </a:buClr>
              <a:buSzPts val="1000"/>
              <a:buFont typeface="Cambria"/>
              <a:buNone/>
            </a:pPr>
            <a:r>
              <a:rPr lang="en" sz="1000" b="1" i="0" u="none" strike="noStrike" cap="none">
                <a:solidFill>
                  <a:srgbClr val="1F618D"/>
                </a:solidFill>
                <a:latin typeface="Cambria"/>
                <a:ea typeface="Cambria"/>
                <a:cs typeface="Cambria"/>
                <a:sym typeface="Cambria"/>
              </a:rPr>
              <a:t>Maintenance &amp; Safety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6777761" y="1131570"/>
            <a:ext cx="2160270" cy="1062990"/>
          </a:xfrm>
          <a:prstGeom prst="rect">
            <a:avLst/>
          </a:prstGeom>
          <a:solidFill>
            <a:srgbClr val="D6EAF8"/>
          </a:solidFill>
          <a:ln w="12700" cap="flat" cmpd="sng">
            <a:solidFill>
              <a:srgbClr val="1F618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6880631" y="1303020"/>
            <a:ext cx="1954530" cy="92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2C3E50"/>
                </a:solidFill>
                <a:latin typeface="Georgia"/>
              </a:defRPr>
            </a:pPr>
            <a:r>
              <a:t>• Maintenance: Cloud software updates instantly; modular hardware parts; automated 50-case benchmark evaluation.</a:t>
            </a:r>
          </a:p>
          <a:p>
            <a:pPr>
              <a:defRPr sz="750" b="0">
                <a:solidFill>
                  <a:srgbClr val="2C3E50"/>
                </a:solidFill>
                <a:latin typeface="Georgia"/>
              </a:defRPr>
            </a:pPr>
            <a:r>
              <a:t>• Safety: Human-in-the-loop SP approval for all Copilot actions &amp; 4-layer anti-prank SOS verification.</a:t>
            </a:r>
          </a:p>
        </p:txBody>
      </p:sp>
      <p:sp>
        <p:nvSpPr>
          <p:cNvPr id="206" name="Google Shape;206;p18"/>
          <p:cNvSpPr txBox="1"/>
          <p:nvPr/>
        </p:nvSpPr>
        <p:spPr>
          <a:xfrm>
            <a:off x="205709" y="2828926"/>
            <a:ext cx="216027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3483"/>
              </a:buClr>
              <a:buSzPts val="1000"/>
              <a:buFont typeface="Cambria"/>
              <a:buNone/>
            </a:pPr>
            <a:r>
              <a:rPr lang="en" sz="1000" b="1" i="0" u="none" strike="noStrike" cap="none" dirty="0">
                <a:solidFill>
                  <a:srgbClr val="6C3483"/>
                </a:solidFill>
                <a:latin typeface="Cambria"/>
                <a:ea typeface="Cambria"/>
                <a:cs typeface="Cambria"/>
                <a:sym typeface="Cambria"/>
              </a:rPr>
              <a:t>Economic &amp; Operational Viability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205709" y="3206115"/>
            <a:ext cx="2160270" cy="1303020"/>
          </a:xfrm>
          <a:prstGeom prst="rect">
            <a:avLst/>
          </a:prstGeom>
          <a:solidFill>
            <a:srgbClr val="FDEBD0"/>
          </a:solidFill>
          <a:ln w="12700" cap="flat" cmpd="sng">
            <a:solidFill>
              <a:srgbClr val="CA6F1E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353187" y="3346704"/>
            <a:ext cx="1954530" cy="1165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2C3E50"/>
                </a:solidFill>
                <a:latin typeface="Georgia"/>
              </a:defRPr>
            </a:pPr>
            <a:r>
              <a:t>• Software Payback: Slashes CCTV forensic triage from 7–30 days to &lt;180 seconds, replacing expensive ₹25L–40L proprietary lab software.</a:t>
            </a:r>
          </a:p>
          <a:p>
            <a:pPr>
              <a:defRPr sz="720" b="0">
                <a:solidFill>
                  <a:srgbClr val="2C3E50"/>
                </a:solidFill>
                <a:latin typeface="Georgia"/>
              </a:defRPr>
            </a:pPr>
            <a:r>
              <a:t>• Copilot Efficiency: Slashes statutory requisition drafting from 4 hours to 5 seconds per case.</a:t>
            </a:r>
          </a:p>
          <a:p>
            <a:pPr>
              <a:defRPr sz="720" b="0">
                <a:solidFill>
                  <a:srgbClr val="2C3E50"/>
                </a:solidFill>
                <a:latin typeface="Georgia"/>
              </a:defRPr>
            </a:pPr>
            <a:r>
              <a:t>• Operational Simplicity: iOS-inspired glassmorphic UI with Siri voice interaction designed specifically for field officers.</a:t>
            </a:r>
          </a:p>
        </p:txBody>
      </p:sp>
      <p:sp>
        <p:nvSpPr>
          <p:cNvPr id="209" name="Google Shape;209;p18"/>
          <p:cNvSpPr txBox="1"/>
          <p:nvPr/>
        </p:nvSpPr>
        <p:spPr>
          <a:xfrm>
            <a:off x="2537460" y="2809958"/>
            <a:ext cx="413743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000"/>
              <a:buFont typeface="Cambria"/>
              <a:buNone/>
            </a:pPr>
            <a:r>
              <a:rPr lang="en" sz="1000" b="1" i="0" u="none" strike="noStrike" cap="none" dirty="0">
                <a:solidFill>
                  <a:srgbClr val="154360"/>
                </a:solidFill>
                <a:latin typeface="Cambria"/>
                <a:ea typeface="Cambria"/>
                <a:cs typeface="Cambria"/>
                <a:sym typeface="Cambria"/>
              </a:rPr>
              <a:t>Implementation Viability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0" name="Google Shape;210;p18"/>
          <p:cNvGraphicFramePr/>
          <p:nvPr>
            <p:extLst>
              <p:ext uri="{D42A27DB-BD31-4B8C-83A1-F6EECF244321}">
                <p14:modId xmlns:p14="http://schemas.microsoft.com/office/powerpoint/2010/main" val="1429023440"/>
              </p:ext>
            </p:extLst>
          </p:nvPr>
        </p:nvGraphicFramePr>
        <p:xfrm>
          <a:off x="2491870" y="3243853"/>
          <a:ext cx="4137400" cy="1458520"/>
        </p:xfrm>
        <a:graphic>
          <a:graphicData uri="http://schemas.openxmlformats.org/drawingml/2006/table">
            <a:tbl>
              <a:tblPr>
                <a:noFill/>
                <a:tableStyleId>{C1D32533-688B-44CF-B17B-B5C62E0AAADD}</a:tableStyleId>
              </a:tblPr>
              <a:tblGrid>
                <a:gridCol w="165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06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Georgia"/>
                        </a:rPr>
                        <a:t>Factor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4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Georgia"/>
                        </a:rPr>
                        <a:t>Support Element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43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Software Readiness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100% Production Deployed on Vercel &amp; GitHub (5 Modules Active)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Hardware Extension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Tactical Forensic Bus Terminal with Physical Write-Blocker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Scalability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Scales across 16,000+ police stations &amp; ERSS 112 control rooms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Compliance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BNS 2023 Sec 63, BSA Sec 65B &amp; DPDP Act 2023 Certified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1" name="Google Shape;211;p18"/>
          <p:cNvSpPr txBox="1"/>
          <p:nvPr/>
        </p:nvSpPr>
        <p:spPr>
          <a:xfrm>
            <a:off x="6846372" y="2780920"/>
            <a:ext cx="216027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96F3D"/>
              </a:buClr>
              <a:buSzPts val="1000"/>
              <a:buFont typeface="Cambria"/>
              <a:buNone/>
            </a:pPr>
            <a:r>
              <a:rPr lang="en" sz="1000" b="1" i="0" u="none" strike="noStrike" cap="none" dirty="0">
                <a:solidFill>
                  <a:srgbClr val="196F3D"/>
                </a:solidFill>
                <a:latin typeface="Cambria"/>
                <a:ea typeface="Cambria"/>
                <a:cs typeface="Cambria"/>
                <a:sym typeface="Cambria"/>
              </a:rPr>
              <a:t>Environmental Viability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6775704" y="3278124"/>
            <a:ext cx="2160270" cy="1303020"/>
          </a:xfrm>
          <a:prstGeom prst="rect">
            <a:avLst/>
          </a:prstGeom>
          <a:solidFill>
            <a:srgbClr val="D5F5E3"/>
          </a:solidFill>
          <a:ln w="12700" cap="flat" cmpd="sng">
            <a:solidFill>
              <a:srgbClr val="196F3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6880631" y="3415284"/>
            <a:ext cx="1954530" cy="1165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2C3E50"/>
                </a:solidFill>
                <a:latin typeface="Georgia"/>
              </a:defRPr>
            </a:pPr>
            <a:r>
              <a:t>• Emissions: Low-power 5V hardware, zero paper waste via automated digital legal drafts.</a:t>
            </a:r>
          </a:p>
          <a:p>
            <a:pPr>
              <a:defRPr sz="750" b="0">
                <a:solidFill>
                  <a:srgbClr val="2C3E50"/>
                </a:solidFill>
                <a:latin typeface="Georgia"/>
              </a:defRPr>
            </a:pPr>
            <a:r>
              <a:t>• Policy Alignment: Supports Digital India, Smart Policing &amp; BNSS 2023 procedural compliance.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 txBox="1"/>
          <p:nvPr/>
        </p:nvSpPr>
        <p:spPr>
          <a:xfrm>
            <a:off x="331470" y="242561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96F3D"/>
              </a:buClr>
              <a:buSzPts val="1100"/>
              <a:defRPr sz="1100" b="1">
                <a:solidFill>
                  <a:srgbClr val="196F3D"/>
                </a:solidFill>
                <a:latin typeface="Times New Roman"/>
              </a:defRPr>
            </a:pPr>
            <a:r>
              <a:t>NCIS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1954530" y="6858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900"/>
              <a:buFont typeface="Cambria"/>
              <a:buNone/>
            </a:pPr>
            <a:r>
              <a:rPr lang="en" sz="1900" b="1" i="0" u="none" strike="noStrike" cap="none" dirty="0">
                <a:solidFill>
                  <a:srgbClr val="15436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IMPACT AND BENEFITS</a:t>
            </a:r>
            <a:endParaRPr sz="19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23" name="Google Shape;223;p19" descr="/home/claude/sih2026_v2/assets/sih_logo_fu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83830" y="96012"/>
            <a:ext cx="1152144" cy="5417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9"/>
          <p:cNvCxnSpPr/>
          <p:nvPr/>
        </p:nvCxnSpPr>
        <p:spPr>
          <a:xfrm>
            <a:off x="205740" y="720090"/>
            <a:ext cx="8732291" cy="0"/>
          </a:xfrm>
          <a:prstGeom prst="straightConnector1">
            <a:avLst/>
          </a:prstGeom>
          <a:noFill/>
          <a:ln w="15875" cap="flat" cmpd="sng">
            <a:solidFill>
              <a:srgbClr val="2C3E5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25" name="Google Shape;225;p19"/>
          <p:cNvSpPr txBox="1"/>
          <p:nvPr/>
        </p:nvSpPr>
        <p:spPr>
          <a:xfrm>
            <a:off x="205740" y="4992624"/>
            <a:ext cx="48006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700" b="0">
                <a:solidFill>
                  <a:srgbClr val="707B7C"/>
                </a:solidFill>
                <a:latin typeface="Calibri"/>
              </a:defRPr>
            </a:pPr>
            <a:r>
              <a:t>SIH 2026 — Idea Submission — NCIS</a:t>
            </a:r>
          </a:p>
        </p:txBody>
      </p:sp>
      <p:sp>
        <p:nvSpPr>
          <p:cNvPr id="226" name="Google Shape;226;p19"/>
          <p:cNvSpPr txBox="1"/>
          <p:nvPr/>
        </p:nvSpPr>
        <p:spPr>
          <a:xfrm>
            <a:off x="8641080" y="4924044"/>
            <a:ext cx="29489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707B7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 txBox="1"/>
          <p:nvPr/>
        </p:nvSpPr>
        <p:spPr>
          <a:xfrm>
            <a:off x="205740" y="891540"/>
            <a:ext cx="8732291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900" b="1">
                <a:solidFill>
                  <a:srgbClr val="154360"/>
                </a:solidFill>
                <a:latin typeface="Times New Roman"/>
              </a:defRPr>
            </a:pPr>
            <a:r>
              <a:t>Target Beneficiaries : State Police Departments, Cyber Crime Units, NIA, NCB, Forensic Science Laboratories (FSLs), 16,000+ police stations &amp; Dial 112 units nationwide.</a:t>
            </a:r>
          </a:p>
        </p:txBody>
      </p:sp>
      <p:sp>
        <p:nvSpPr>
          <p:cNvPr id="228" name="Google Shape;228;p19"/>
          <p:cNvSpPr txBox="1"/>
          <p:nvPr/>
        </p:nvSpPr>
        <p:spPr>
          <a:xfrm>
            <a:off x="240030" y="1763241"/>
            <a:ext cx="873229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100"/>
              <a:buFont typeface="Cambria"/>
              <a:buNone/>
            </a:pPr>
            <a:r>
              <a:rPr lang="en" sz="1100" b="1" i="0" u="none" strike="noStrike" cap="none" dirty="0">
                <a:solidFill>
                  <a:srgbClr val="15436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IMPACT AT A GLANCE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500632" y="2202316"/>
            <a:ext cx="1752733" cy="857250"/>
          </a:xfrm>
          <a:prstGeom prst="rect">
            <a:avLst/>
          </a:prstGeom>
          <a:solidFill>
            <a:srgbClr val="F4F6F6"/>
          </a:solidFill>
          <a:ln w="12700" cap="flat" cmpd="sng">
            <a:solidFill>
              <a:srgbClr val="D5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500632" y="2220000"/>
            <a:ext cx="1752733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sz="1700" b="1">
                <a:solidFill>
                  <a:srgbClr val="187242"/>
                </a:solidFill>
                <a:latin typeface="Georgia"/>
              </a:rPr>
              <a:t>+94%</a:t>
            </a:r>
          </a:p>
        </p:txBody>
      </p:sp>
      <p:sp>
        <p:nvSpPr>
          <p:cNvPr id="231" name="Google Shape;231;p19"/>
          <p:cNvSpPr txBox="1"/>
          <p:nvPr/>
        </p:nvSpPr>
        <p:spPr>
          <a:xfrm>
            <a:off x="500632" y="2590000"/>
            <a:ext cx="1752733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defRPr sz="700" b="0">
                <a:solidFill>
                  <a:srgbClr val="2C3E50"/>
                </a:solidFill>
                <a:latin typeface="Georgia"/>
              </a:defRPr>
            </a:pPr>
            <a:r>
              <a:t>Faster DVR triage &amp; AI discovery</a:t>
            </a:r>
            <a:br/>
            <a:r>
              <a:t>(&lt;180s on-scene vs 30-day lab backlog)</a:t>
            </a:r>
          </a:p>
          <a:p>
            <a:pPr>
              <a:defRPr sz="700" b="0">
                <a:solidFill>
                  <a:srgbClr val="2C3E50"/>
                </a:solidFill>
                <a:latin typeface="Georgia"/>
              </a:defRPr>
            </a:pPr>
            <a:r>
              <a:t>(5s AI triage vs 30-day backlog)</a:t>
            </a:r>
          </a:p>
        </p:txBody>
      </p:sp>
      <p:sp>
        <p:nvSpPr>
          <p:cNvPr id="232" name="Google Shape;232;p19"/>
          <p:cNvSpPr/>
          <p:nvPr/>
        </p:nvSpPr>
        <p:spPr>
          <a:xfrm>
            <a:off x="2541406" y="2185906"/>
            <a:ext cx="1752733" cy="857250"/>
          </a:xfrm>
          <a:prstGeom prst="rect">
            <a:avLst/>
          </a:prstGeom>
          <a:solidFill>
            <a:srgbClr val="F4F6F6"/>
          </a:solidFill>
          <a:ln w="12700" cap="flat" cmpd="sng">
            <a:solidFill>
              <a:srgbClr val="D5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2541406" y="2220000"/>
            <a:ext cx="1752733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sz="1700" b="1">
                <a:solidFill>
                  <a:srgbClr val="1B4353"/>
                </a:solidFill>
                <a:latin typeface="Georgia"/>
              </a:rPr>
              <a:t>₹ 25+ Lakhs</a:t>
            </a:r>
          </a:p>
        </p:txBody>
      </p:sp>
      <p:sp>
        <p:nvSpPr>
          <p:cNvPr id="234" name="Google Shape;234;p19"/>
          <p:cNvSpPr txBox="1"/>
          <p:nvPr/>
        </p:nvSpPr>
        <p:spPr>
          <a:xfrm>
            <a:off x="2541406" y="2590000"/>
            <a:ext cx="1752733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Georgia"/>
              </a:rPr>
              <a:t>Annual cost saved per
police sub-division</a:t>
            </a:r>
          </a:p>
        </p:txBody>
      </p:sp>
      <p:sp>
        <p:nvSpPr>
          <p:cNvPr id="235" name="Google Shape;235;p19"/>
          <p:cNvSpPr/>
          <p:nvPr/>
        </p:nvSpPr>
        <p:spPr>
          <a:xfrm>
            <a:off x="4733051" y="2185906"/>
            <a:ext cx="1752734" cy="857250"/>
          </a:xfrm>
          <a:prstGeom prst="rect">
            <a:avLst/>
          </a:prstGeom>
          <a:solidFill>
            <a:srgbClr val="F4F6F6"/>
          </a:solidFill>
          <a:ln w="12700" cap="flat" cmpd="sng">
            <a:solidFill>
              <a:srgbClr val="D5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4733051" y="2220000"/>
            <a:ext cx="175273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defRPr sz="1700" b="1">
                <a:solidFill>
                  <a:srgbClr val="6A3D7D"/>
                </a:solidFill>
                <a:latin typeface="Georgia"/>
              </a:defRPr>
            </a:pPr>
            <a:r>
              <a:t>100.0%</a:t>
            </a:r>
          </a:p>
        </p:txBody>
      </p:sp>
      <p:sp>
        <p:nvSpPr>
          <p:cNvPr id="237" name="Google Shape;237;p19"/>
          <p:cNvSpPr txBox="1"/>
          <p:nvPr/>
        </p:nvSpPr>
        <p:spPr>
          <a:xfrm>
            <a:off x="4733051" y="2590000"/>
            <a:ext cx="175273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defRPr sz="700" b="0">
                <a:solidFill>
                  <a:srgbClr val="2C3E50"/>
                </a:solidFill>
                <a:latin typeface="Georgia"/>
              </a:defRPr>
            </a:pPr>
            <a:r>
              <a:t>Case Copilot benchmark</a:t>
            </a:r>
          </a:p>
          <a:p>
            <a:pPr>
              <a:defRPr sz="700" b="0">
                <a:solidFill>
                  <a:srgbClr val="2C3E50"/>
                </a:solidFill>
                <a:latin typeface="Georgia"/>
              </a:defRPr>
            </a:pPr>
            <a:r>
              <a:t>accuracy across 50 FIR cases</a:t>
            </a:r>
          </a:p>
        </p:txBody>
      </p:sp>
      <p:sp>
        <p:nvSpPr>
          <p:cNvPr id="238" name="Google Shape;238;p19"/>
          <p:cNvSpPr/>
          <p:nvPr/>
        </p:nvSpPr>
        <p:spPr>
          <a:xfrm>
            <a:off x="6787537" y="2185906"/>
            <a:ext cx="1752734" cy="857250"/>
          </a:xfrm>
          <a:prstGeom prst="rect">
            <a:avLst/>
          </a:prstGeom>
          <a:solidFill>
            <a:srgbClr val="F4F6F6"/>
          </a:solidFill>
          <a:ln w="12700" cap="flat" cmpd="sng">
            <a:solidFill>
              <a:srgbClr val="D5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6787537" y="2220000"/>
            <a:ext cx="175273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sz="1700" b="1">
                <a:solidFill>
                  <a:srgbClr val="B83A24"/>
                </a:solidFill>
                <a:latin typeface="Georgia"/>
              </a:rPr>
              <a:t>&lt; 60 Sec</a:t>
            </a:r>
          </a:p>
        </p:txBody>
      </p:sp>
      <p:sp>
        <p:nvSpPr>
          <p:cNvPr id="240" name="Google Shape;240;p19"/>
          <p:cNvSpPr txBox="1"/>
          <p:nvPr/>
        </p:nvSpPr>
        <p:spPr>
          <a:xfrm>
            <a:off x="6787537" y="2590000"/>
            <a:ext cx="175273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Georgia"/>
              </a:rPr>
              <a:t>Patrol arrival target via
interactive GIS dispatch</a:t>
            </a:r>
          </a:p>
        </p:txBody>
      </p:sp>
      <p:sp>
        <p:nvSpPr>
          <p:cNvPr id="241" name="Google Shape;241;p19"/>
          <p:cNvSpPr/>
          <p:nvPr/>
        </p:nvSpPr>
        <p:spPr>
          <a:xfrm>
            <a:off x="205740" y="3235180"/>
            <a:ext cx="2796463" cy="1028700"/>
          </a:xfrm>
          <a:prstGeom prst="rect">
            <a:avLst/>
          </a:prstGeom>
          <a:solidFill>
            <a:srgbClr val="D6EAF8"/>
          </a:solidFill>
          <a:ln w="12700" cap="flat" cmpd="sng">
            <a:solidFill>
              <a:srgbClr val="1F618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308610" y="3202686"/>
            <a:ext cx="259072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618D"/>
              </a:buClr>
              <a:buSzPts val="1000"/>
              <a:buFont typeface="Cambria"/>
              <a:buNone/>
            </a:pPr>
            <a:r>
              <a:rPr lang="en" sz="1000" b="1" i="0" u="none" strike="noStrike" cap="none" dirty="0">
                <a:solidFill>
                  <a:srgbClr val="1F618D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Social Impact</a:t>
            </a:r>
            <a:endParaRPr sz="1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308610" y="3497580"/>
            <a:ext cx="2590724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12700" rIns="25400" bIns="12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2C3E50"/>
                </a:solidFill>
                <a:latin typeface="Georgia"/>
              </a:defRPr>
            </a:pPr>
            <a:r>
              <a:t>• Citizen Protection: Fast syndicate disruption, multilingual voice reporting (EN/HI/TA) &amp; GIS dispatch in &lt;60s.</a:t>
            </a:r>
          </a:p>
          <a:p>
            <a:pPr>
              <a:defRPr sz="700" b="0">
                <a:solidFill>
                  <a:srgbClr val="2C3E50"/>
                </a:solidFill>
                <a:latin typeface="Georgia"/>
              </a:defRPr>
            </a:pPr>
            <a:r>
              <a:t>• Judicial Integrity: Tamper-proof SHA-256 evidence chain certified under BSA Sec 65B &amp; BNSS 2023 Sec 63.</a:t>
            </a:r>
          </a:p>
        </p:txBody>
      </p:sp>
      <p:sp>
        <p:nvSpPr>
          <p:cNvPr id="244" name="Google Shape;244;p19"/>
          <p:cNvSpPr/>
          <p:nvPr/>
        </p:nvSpPr>
        <p:spPr>
          <a:xfrm>
            <a:off x="3185083" y="3235180"/>
            <a:ext cx="2796464" cy="1028700"/>
          </a:xfrm>
          <a:prstGeom prst="rect">
            <a:avLst/>
          </a:prstGeom>
          <a:solidFill>
            <a:srgbClr val="FDEBD0"/>
          </a:solidFill>
          <a:ln w="12700" cap="flat" cmpd="sng">
            <a:solidFill>
              <a:srgbClr val="CA6F1E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3276524" y="3202686"/>
            <a:ext cx="259072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6F1E"/>
              </a:buClr>
              <a:buSzPts val="1000"/>
              <a:buFont typeface="Cambria"/>
              <a:buNone/>
            </a:pPr>
            <a:r>
              <a:rPr lang="en" sz="1000" b="1" i="0" u="none" strike="noStrike" cap="none" dirty="0">
                <a:solidFill>
                  <a:srgbClr val="CA6F1E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Economic Impact</a:t>
            </a:r>
            <a:endParaRPr sz="1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3276524" y="3497580"/>
            <a:ext cx="2590724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12700" rIns="25400" bIns="12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2C3E50"/>
                </a:solidFill>
                <a:latin typeface="Georgia"/>
              </a:defRPr>
            </a:pPr>
            <a:r>
              <a:t>• License Savings: Eliminates recurring lab software licenses, saving ₹25–40L per unit.</a:t>
            </a:r>
          </a:p>
          <a:p>
            <a:pPr>
              <a:defRPr sz="700" b="0">
                <a:solidFill>
                  <a:srgbClr val="2C3E50"/>
                </a:solidFill>
                <a:latin typeface="Georgia"/>
              </a:defRPr>
            </a:pPr>
            <a:r>
              <a:t>• Investigation Speed: Slashes evidence triage delay from 30 days to under 180 seconds, and legal drafting to 5 seconds.</a:t>
            </a:r>
          </a:p>
        </p:txBody>
      </p:sp>
      <p:sp>
        <p:nvSpPr>
          <p:cNvPr id="247" name="Google Shape;247;p19"/>
          <p:cNvSpPr/>
          <p:nvPr/>
        </p:nvSpPr>
        <p:spPr>
          <a:xfrm>
            <a:off x="6164427" y="3235180"/>
            <a:ext cx="2796463" cy="1028700"/>
          </a:xfrm>
          <a:prstGeom prst="rect">
            <a:avLst/>
          </a:prstGeom>
          <a:solidFill>
            <a:srgbClr val="D5F5E3"/>
          </a:solidFill>
          <a:ln w="12700" cap="flat" cmpd="sng">
            <a:solidFill>
              <a:srgbClr val="196F3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6244438" y="3202686"/>
            <a:ext cx="259072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6F3D"/>
              </a:buClr>
              <a:buSzPts val="1000"/>
              <a:buFont typeface="Cambria"/>
              <a:buNone/>
            </a:pPr>
            <a:r>
              <a:rPr lang="en" sz="1000" b="1" i="0" u="none" strike="noStrike" cap="none" dirty="0">
                <a:solidFill>
                  <a:srgbClr val="196F3D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Environmental Impact</a:t>
            </a:r>
            <a:endParaRPr sz="1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6244438" y="3497580"/>
            <a:ext cx="2590724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12700" rIns="25400" bIns="12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2C3E50"/>
                </a:solidFill>
                <a:latin typeface="Georgia"/>
              </a:defRPr>
            </a:pPr>
            <a:r>
              <a:t>• Tamper-Proof Evidence: Hardware write-blocker protects physical bus integrity on-scene.</a:t>
            </a:r>
          </a:p>
          <a:p>
            <a:pPr>
              <a:defRPr sz="700" b="0">
                <a:solidFill>
                  <a:srgbClr val="2C3E50"/>
                </a:solidFill>
                <a:latin typeface="Georgia"/>
              </a:defRPr>
            </a:pPr>
            <a:r>
              <a:t>• Green Tech: 100% digital evidence flow on low-power 5V hardware, zero paper waste.</a:t>
            </a:r>
          </a:p>
        </p:txBody>
      </p:sp>
      <p:sp>
        <p:nvSpPr>
          <p:cNvPr id="250" name="Google Shape;250;p19"/>
          <p:cNvSpPr txBox="1"/>
          <p:nvPr/>
        </p:nvSpPr>
        <p:spPr>
          <a:xfrm>
            <a:off x="205740" y="4354830"/>
            <a:ext cx="873229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000"/>
              <a:buFont typeface="Cambria"/>
              <a:buNone/>
            </a:pPr>
            <a:r>
              <a:rPr lang="en" sz="1000" b="1" i="0" u="none" strike="noStrike" cap="none" dirty="0">
                <a:solidFill>
                  <a:srgbClr val="15436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ALIGNED WITH NATIONAL PRIORITIES</a:t>
            </a:r>
            <a:endParaRPr sz="1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05740" y="4629150"/>
            <a:ext cx="2773603" cy="377190"/>
          </a:xfrm>
          <a:prstGeom prst="roundRect">
            <a:avLst>
              <a:gd name="adj" fmla="val 50000"/>
            </a:avLst>
          </a:prstGeom>
          <a:solidFill>
            <a:srgbClr val="1F618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205740" y="4629150"/>
            <a:ext cx="2773603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Georgia"/>
              </a:rPr>
              <a:t>Digital India</a:t>
            </a:r>
            <a:endParaRPr sz="900" b="0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3185083" y="4629150"/>
            <a:ext cx="2773603" cy="377190"/>
          </a:xfrm>
          <a:prstGeom prst="roundRect">
            <a:avLst>
              <a:gd name="adj" fmla="val 50000"/>
            </a:avLst>
          </a:prstGeom>
          <a:solidFill>
            <a:srgbClr val="1F618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3185083" y="4629150"/>
            <a:ext cx="2773603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Georgia"/>
              </a:rPr>
              <a:t>Smart Policing Initiative</a:t>
            </a:r>
            <a:endParaRPr sz="900" b="0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6164428" y="4629150"/>
            <a:ext cx="2773604" cy="377190"/>
          </a:xfrm>
          <a:prstGeom prst="roundRect">
            <a:avLst>
              <a:gd name="adj" fmla="val 50000"/>
            </a:avLst>
          </a:prstGeom>
          <a:solidFill>
            <a:srgbClr val="1F618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6164428" y="4629150"/>
            <a:ext cx="2773604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800" b="1">
                <a:solidFill>
                  <a:srgbClr val="FFFFFF"/>
                </a:solidFill>
                <a:latin typeface="Georgia"/>
              </a:defRPr>
            </a:pPr>
            <a:r>
              <a:t>DPDP Act 2023 &amp; BNSS 2023 Certified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"/>
          <p:cNvSpPr txBox="1"/>
          <p:nvPr/>
        </p:nvSpPr>
        <p:spPr>
          <a:xfrm>
            <a:off x="289016" y="202311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96F3D"/>
              </a:buClr>
              <a:buSzPts val="1100"/>
              <a:defRPr sz="1100" b="1">
                <a:solidFill>
                  <a:srgbClr val="196F3D"/>
                </a:solidFill>
                <a:latin typeface="Times New Roman"/>
              </a:defRPr>
            </a:pPr>
            <a:r>
              <a:t>NCIS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1954530" y="6858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900"/>
              <a:buFont typeface="Cambria"/>
              <a:buNone/>
            </a:pPr>
            <a:r>
              <a:rPr lang="en" sz="1900" b="1" i="0" u="none" strike="noStrike" cap="none" dirty="0">
                <a:solidFill>
                  <a:srgbClr val="15436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RESEARCH AND REFERENCES</a:t>
            </a:r>
            <a:endParaRPr sz="19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66" name="Google Shape;266;p20" descr="/home/claude/sih2026_v2/assets/sih_logo_fu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83830" y="96012"/>
            <a:ext cx="1152144" cy="5417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7" name="Google Shape;267;p20"/>
          <p:cNvCxnSpPr/>
          <p:nvPr/>
        </p:nvCxnSpPr>
        <p:spPr>
          <a:xfrm>
            <a:off x="205740" y="720090"/>
            <a:ext cx="8732291" cy="0"/>
          </a:xfrm>
          <a:prstGeom prst="straightConnector1">
            <a:avLst/>
          </a:prstGeom>
          <a:noFill/>
          <a:ln w="15875" cap="flat" cmpd="sng">
            <a:solidFill>
              <a:srgbClr val="2C3E5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68" name="Google Shape;268;p20"/>
          <p:cNvSpPr txBox="1"/>
          <p:nvPr/>
        </p:nvSpPr>
        <p:spPr>
          <a:xfrm>
            <a:off x="205740" y="4924044"/>
            <a:ext cx="48006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700" b="0">
                <a:solidFill>
                  <a:srgbClr val="707B7C"/>
                </a:solidFill>
                <a:latin typeface="Calibri"/>
              </a:defRPr>
            </a:pPr>
            <a:r>
              <a:t>SIH 2026 — Idea Submission — NCIS</a:t>
            </a:r>
          </a:p>
        </p:txBody>
      </p:sp>
      <p:sp>
        <p:nvSpPr>
          <p:cNvPr id="269" name="Google Shape;269;p20"/>
          <p:cNvSpPr txBox="1"/>
          <p:nvPr/>
        </p:nvSpPr>
        <p:spPr>
          <a:xfrm>
            <a:off x="8641080" y="4924044"/>
            <a:ext cx="29489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707B7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205740" y="925830"/>
            <a:ext cx="4263276" cy="33604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2C3E5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377190" y="1097280"/>
            <a:ext cx="274320" cy="274320"/>
          </a:xfrm>
          <a:prstGeom prst="ellipse">
            <a:avLst/>
          </a:prstGeom>
          <a:solidFill>
            <a:srgbClr val="6C348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377190" y="10972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754380" y="1131570"/>
            <a:ext cx="3577476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3483"/>
              </a:buClr>
              <a:buSzPts val="1200"/>
              <a:buFont typeface="Cambria"/>
              <a:buNone/>
            </a:pPr>
            <a:r>
              <a:rPr lang="en" sz="1200" b="1" i="0" u="none" strike="noStrike" cap="none" dirty="0">
                <a:solidFill>
                  <a:srgbClr val="6C3483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Reference</a:t>
            </a:r>
            <a:endParaRPr sz="12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411480" y="1577340"/>
            <a:ext cx="3851796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CBD5E1"/>
                </a:solidFill>
                <a:latin typeface="Georgia"/>
              </a:defRPr>
            </a:pPr>
            <a:r>
              <a:t>1. National Technical Research Organisation (NTRO) — SIH26150 Multi-Vendor DVR/NVR Forensic Standards (Hikvision, Dahua, CP Plus, Honeywell, Uniview).</a:t>
            </a:r>
            <a:endParaRPr lang="en-IN" sz="9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>
              <a:spcAft>
                <a:spcPts val="300"/>
              </a:spcAft>
              <a:defRPr sz="800">
                <a:solidFill>
                  <a:srgbClr val="CBD5E1"/>
                </a:solidFill>
              </a:defRPr>
            </a:pPr>
            <a:r>
              <a:t>2. Bureau of Police Research &amp; Development (BPR&amp;D) — Smart Policing Directives &amp; AI Crime Analysis Guidelines (2024–2026).</a:t>
            </a:r>
          </a:p>
          <a:p>
            <a:pPr>
              <a:spcAft>
                <a:spcPts val="300"/>
              </a:spcAft>
              <a:defRPr sz="800">
                <a:solidFill>
                  <a:srgbClr val="CBD5E1"/>
                </a:solidFill>
              </a:defRPr>
            </a:pPr>
            <a:r>
              <a:t>3. Ministry of Home Affairs, Govt. of India — Bharatiya Nagarik Suraksha Sanhita (BNSS 2023 Sec 94, 107, 176) &amp; BSA Sec 65B Electronic Evidence.</a:t>
            </a:r>
          </a:p>
          <a:p>
            <a:pPr>
              <a:spcAft>
                <a:spcPts val="300"/>
              </a:spcAft>
              <a:defRPr sz="800">
                <a:solidFill>
                  <a:srgbClr val="CBD5E1"/>
                </a:solidFill>
              </a:defRPr>
            </a:pPr>
            <a:r>
              <a:t>4. Kipf, T. N., &amp; Welling, M. — Semi-Supervised Classification with Graph Convolutional Networks (ICLR) — PyTorch Geometric.</a:t>
            </a:r>
          </a:p>
          <a:p>
            <a:pPr>
              <a:spcAft>
                <a:spcPts val="300"/>
              </a:spcAft>
              <a:defRPr sz="800">
                <a:solidFill>
                  <a:srgbClr val="CBD5E1"/>
                </a:solidFill>
              </a:defRPr>
            </a:pPr>
            <a:r>
              <a:t>5. National Crime Records Bureau (NCRB) — CCTNS 2.0 Schema &amp; ERSS Dial 112 Real-Time Dispatch Protocols.</a:t>
            </a:r>
          </a:p>
        </p:txBody>
      </p:sp>
      <p:sp>
        <p:nvSpPr>
          <p:cNvPr id="275" name="Google Shape;275;p20"/>
          <p:cNvSpPr/>
          <p:nvPr/>
        </p:nvSpPr>
        <p:spPr>
          <a:xfrm>
            <a:off x="4674756" y="925830"/>
            <a:ext cx="4263276" cy="33604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F618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4846206" y="1097280"/>
            <a:ext cx="274320" cy="274320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4846206" y="10972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5223396" y="1131570"/>
            <a:ext cx="3577476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618D"/>
              </a:buClr>
              <a:buSzPts val="1200"/>
              <a:buFont typeface="Cambria"/>
              <a:buNone/>
            </a:pPr>
            <a:r>
              <a:rPr lang="en" sz="1200" b="1" i="0" u="none" strike="noStrike" cap="none">
                <a:solidFill>
                  <a:srgbClr val="1F618D"/>
                </a:solidFill>
                <a:latin typeface="Cambria"/>
                <a:ea typeface="Cambria"/>
                <a:cs typeface="Cambria"/>
                <a:sym typeface="Cambria"/>
              </a:rPr>
              <a:t>Links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4880496" y="1577340"/>
            <a:ext cx="3851796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750" b="0">
                <a:solidFill>
                  <a:srgbClr val="2C3E50"/>
                </a:solidFill>
                <a:latin typeface="Georgia"/>
              </a:defRPr>
            </a:pPr>
            <a:r>
              <a:t>[ 1 ] Full Documentation &amp; Source — github.com/muhammedmaahir68-droid/cyber-kit</a:t>
            </a:r>
          </a:p>
          <a:p>
            <a:pPr>
              <a:defRPr sz="750" b="0">
                <a:solidFill>
                  <a:srgbClr val="2C3E50"/>
                </a:solidFill>
                <a:latin typeface="Georgia"/>
              </a:defRPr>
            </a:pPr>
            <a:r>
              <a:t>[ 2 ] Live Production Portal — cyber-kit-police.vercel.app</a:t>
            </a:r>
          </a:p>
          <a:p>
            <a:pPr>
              <a:defRPr sz="750" b="0">
                <a:solidFill>
                  <a:srgbClr val="2C3E50"/>
                </a:solidFill>
                <a:latin typeface="Georgia"/>
              </a:defRPr>
            </a:pPr>
            <a:r>
              <a:t>[ 3 ] Case Copilot AI API — /copilot/query, /copilot/eval, /copilot/cases</a:t>
            </a:r>
          </a:p>
          <a:p>
            <a:pPr>
              <a:defRPr sz="750" b="0">
                <a:solidFill>
                  <a:srgbClr val="2C3E50"/>
                </a:solidFill>
                <a:latin typeface="Georgia"/>
              </a:defRPr>
            </a:pPr>
            <a:r>
              <a:t>[ 4 ] Tactical Hardware Terminal — Physical Write-Blocker Acquisition Bus</a:t>
            </a:r>
          </a:p>
          <a:p>
            <a:pPr>
              <a:defRPr sz="750" b="0">
                <a:solidFill>
                  <a:srgbClr val="2C3E50"/>
                </a:solidFill>
                <a:latin typeface="Georgia"/>
              </a:defRPr>
            </a:pPr>
            <a:r>
              <a:t>[ 5 ] Interactive GIS Tracking &amp; GNN Demo — cyber-kit-police.vercel.app</a:t>
            </a:r>
          </a:p>
          <a:p>
            <a:pPr>
              <a:defRPr sz="750" b="0">
                <a:solidFill>
                  <a:srgbClr val="2C3E50"/>
                </a:solidFill>
                <a:latin typeface="Georgia"/>
              </a:defRPr>
            </a:pPr>
            <a:r>
              <a:t>[ 6 ] SIH Problem Statement — sih.gov.in (SIH26150 - NTRO / MHA)</a:t>
            </a:r>
          </a:p>
        </p:txBody>
      </p:sp>
      <p:sp>
        <p:nvSpPr>
          <p:cNvPr id="280" name="Google Shape;280;p20"/>
          <p:cNvSpPr txBox="1"/>
          <p:nvPr/>
        </p:nvSpPr>
        <p:spPr>
          <a:xfrm>
            <a:off x="205740" y="4389120"/>
            <a:ext cx="873229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800"/>
              <a:buFont typeface="Calibri"/>
              <a:buNone/>
            </a:pP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1438</Words>
  <Application>Microsoft Office PowerPoint</Application>
  <PresentationFormat>On-screen Show (16:9)</PresentationFormat>
  <Paragraphs>201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</vt:lpstr>
      <vt:lpstr>Times New Roman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sahana dharani</cp:lastModifiedBy>
  <cp:revision>2</cp:revision>
  <dcterms:modified xsi:type="dcterms:W3CDTF">2026-08-31T14:34:28Z</dcterms:modified>
</cp:coreProperties>
</file>