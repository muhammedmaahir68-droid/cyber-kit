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  <p:sldMasterId id="2147483661" r:id="rId2"/>
  </p:sldMasterIdLst>
  <p:notesMasterIdLst>
    <p:notesMasterId r:id="rId9"/>
  </p:notesMasterIdLst>
  <p:sldIdLst>
    <p:sldId id="256" r:id="rId3"/>
    <p:sldId id="257" r:id="rId4"/>
    <p:sldId id="258" r:id="rId5"/>
    <p:sldId id="259" r:id="rId6"/>
    <p:sldId id="260" r:id="rId7"/>
    <p:sldId id="261" r:id="rId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1D32533-688B-44CF-B17B-B5C62E0AAADD}">
  <a:tblStyle styleId="{C1D32533-688B-44CF-B17B-B5C62E0AAAD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fafaf9c625_2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" name="Google Shape;54;g3fafaf9c625_2_2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1 TIPS: This is the only slide judges see before reading further — copy the PS ID, title, theme and category exactly from the portal, and use your REGISTERED team name. Official rule: max 6 slides total including this title slide; final upload must be a PDF export.</a:t>
            </a:r>
            <a:endParaRPr/>
          </a:p>
        </p:txBody>
      </p:sp>
      <p:sp>
        <p:nvSpPr>
          <p:cNvPr id="55" name="Google Shape;55;g3fafaf9c625_2_2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fafaf9c625_2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g3fafaf9c625_2_24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2 TIPS: Keep each problem box to one sharp sentence — judges skim. The 'Why We Stand Out' box is where teams most often just restate the idea instead of naming a real point of difference versus an existing/competing solution — be specific.</a:t>
            </a:r>
            <a:endParaRPr/>
          </a:p>
        </p:txBody>
      </p:sp>
      <p:sp>
        <p:nvSpPr>
          <p:cNvPr id="77" name="Google Shape;77;g3fafaf9c625_2_24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afaf9c625_2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3fafaf9c625_2_72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3 TIPS: Judges use this slide to pressure-test feasibility claims made elsewhere in the deck. A real, labelled architecture diagram plus a working prototype/demo link or QR code consistently outperforms idea-only entries.</a:t>
            </a:r>
            <a:endParaRPr/>
          </a:p>
        </p:txBody>
      </p:sp>
      <p:sp>
        <p:nvSpPr>
          <p:cNvPr id="126" name="Google Shape;126;g3fafaf9c625_2_72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fafaf9c625_2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7" name="Google Shape;187;g3fafaf9c625_2_133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4 TIPS: Don't present only strengths — naming 2-3 real, specific risks with a credible mitigation reads as maturity. Keep the comparison table honest and sourced; overclaiming cost/market numbers without evidence is a common way teams lose credibility here.</a:t>
            </a:r>
            <a:endParaRPr/>
          </a:p>
        </p:txBody>
      </p:sp>
      <p:sp>
        <p:nvSpPr>
          <p:cNvPr id="188" name="Google Shape;188;g3fafaf9c625_2_133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fafaf9c625_2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6" name="Google Shape;216;g3fafaf9c625_2_161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5 TIPS: Numbers beat adjectives — quantify impact (%, ₹, number of beneficiaries) rather than saying 'huge impact'. Tying the outcome to a named government scheme or SDG is rewarded when the link is genuine, not forced.</a:t>
            </a:r>
            <a:endParaRPr/>
          </a:p>
        </p:txBody>
      </p:sp>
      <p:sp>
        <p:nvSpPr>
          <p:cNvPr id="217" name="Google Shape;217;g3fafaf9c625_2_161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fafaf9c625_2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9" name="Google Shape;259;g3fafaf9c625_2_203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6 TIPS: Real, checkable citations with links read as credibility; generic references ('Wikipedia', 'Google') read as a red flag. Explicitly studying at least one existing/competing solution and stating the delta is a consistent trait in winning decks.</a:t>
            </a:r>
            <a:endParaRPr/>
          </a:p>
        </p:txBody>
      </p:sp>
      <p:sp>
        <p:nvSpPr>
          <p:cNvPr id="260" name="Google Shape;260;g3fafaf9c625_2_203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6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7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8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/>
        </p:nvSpPr>
        <p:spPr>
          <a:xfrm>
            <a:off x="205740" y="219456"/>
            <a:ext cx="1645920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96F3D"/>
              </a:buClr>
              <a:buSzPts val="1100"/>
              <a:buFont typeface="Calibri"/>
              <a:buNone/>
              <a:defRPr sz="1100" b="1">
                <a:solidFill>
                  <a:srgbClr val="196F3D"/>
                </a:solidFill>
                <a:latin typeface="Calibri"/>
              </a:defRPr>
            </a:pPr>
            <a:r>
              <a:t>NCIS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5"/>
          <p:cNvSpPr txBox="1"/>
          <p:nvPr/>
        </p:nvSpPr>
        <p:spPr>
          <a:xfrm>
            <a:off x="1954530" y="68580"/>
            <a:ext cx="52120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54360"/>
              </a:buClr>
              <a:buSzPts val="1900"/>
              <a:buFont typeface="Cambria"/>
              <a:buNone/>
            </a:pPr>
            <a:r>
              <a:rPr lang="en" sz="1900" b="1" i="0" u="none" strike="noStrike" cap="none">
                <a:solidFill>
                  <a:srgbClr val="154360"/>
                </a:solidFill>
                <a:latin typeface="Cambria"/>
                <a:ea typeface="Cambria"/>
                <a:cs typeface="Cambria"/>
                <a:sym typeface="Cambria"/>
              </a:rPr>
              <a:t>SMART INDIA HACKATHON 2026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" name="Google Shape;61;p15" descr="/home/claude/sih2026_v2/assets/sih_logo_full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83830" y="96012"/>
            <a:ext cx="1152144" cy="54178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2" name="Google Shape;62;p15"/>
          <p:cNvCxnSpPr/>
          <p:nvPr/>
        </p:nvCxnSpPr>
        <p:spPr>
          <a:xfrm>
            <a:off x="205740" y="720090"/>
            <a:ext cx="8732291" cy="0"/>
          </a:xfrm>
          <a:prstGeom prst="straightConnector1">
            <a:avLst/>
          </a:prstGeom>
          <a:noFill/>
          <a:ln w="15875" cap="flat" cmpd="sng">
            <a:solidFill>
              <a:srgbClr val="2C3E50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63" name="Google Shape;63;p15"/>
          <p:cNvSpPr txBox="1"/>
          <p:nvPr/>
        </p:nvSpPr>
        <p:spPr>
          <a:xfrm>
            <a:off x="205740" y="4924044"/>
            <a:ext cx="480060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defRPr sz="700" b="0">
                <a:solidFill>
                  <a:srgbClr val="707B7C"/>
                </a:solidFill>
                <a:latin typeface="Calibri"/>
              </a:defRPr>
            </a:pPr>
            <a:r>
              <a:t>SIH 2026 — Idea Submission — NCIS</a:t>
            </a:r>
          </a:p>
        </p:txBody>
      </p:sp>
      <p:sp>
        <p:nvSpPr>
          <p:cNvPr id="64" name="Google Shape;64;p15"/>
          <p:cNvSpPr txBox="1"/>
          <p:nvPr/>
        </p:nvSpPr>
        <p:spPr>
          <a:xfrm>
            <a:off x="8641080" y="4924044"/>
            <a:ext cx="294894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07B7C"/>
              </a:buClr>
              <a:buSzPts val="700"/>
              <a:buFont typeface="Calibri"/>
              <a:buNone/>
            </a:pPr>
            <a:r>
              <a:rPr lang="en" sz="700" b="0" i="0" u="none" strike="noStrike" cap="none">
                <a:solidFill>
                  <a:srgbClr val="707B7C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5"/>
          <p:cNvSpPr txBox="1"/>
          <p:nvPr/>
        </p:nvSpPr>
        <p:spPr>
          <a:xfrm>
            <a:off x="342900" y="822960"/>
            <a:ext cx="5212080" cy="582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/>
            <a:r>
              <a:rPr sz="1400" b="1">
                <a:solidFill>
                  <a:srgbClr val="1B4353"/>
                </a:solidFill>
                <a:latin typeface="Georgia"/>
              </a:rPr>
              <a:t>NCIS-TACTICAL : AI-Powered Criminal Network &amp; Forensic Investigation Platform</a:t>
            </a:r>
          </a:p>
        </p:txBody>
      </p:sp>
      <p:sp>
        <p:nvSpPr>
          <p:cNvPr id="66" name="Google Shape;66;p15"/>
          <p:cNvSpPr txBox="1"/>
          <p:nvPr/>
        </p:nvSpPr>
        <p:spPr>
          <a:xfrm>
            <a:off x="342900" y="1543050"/>
            <a:ext cx="5074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B4353"/>
                </a:solidFill>
                <a:latin typeface="Georgia"/>
              </a:rPr>
              <a:t>Problem Statement ID  –  189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5"/>
          <p:cNvSpPr txBox="1"/>
          <p:nvPr/>
        </p:nvSpPr>
        <p:spPr>
          <a:xfrm>
            <a:off x="342900" y="1885950"/>
            <a:ext cx="5074920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defRPr sz="1000" b="1">
                <a:solidFill>
                  <a:srgbClr val="154360"/>
                </a:solidFill>
                <a:latin typeface="Times New Roman"/>
              </a:defRPr>
            </a:pPr>
            <a:r>
              <a:rPr sz="1100" b="1">
                <a:solidFill>
                  <a:srgbClr val="1B4353"/>
                </a:solidFill>
                <a:latin typeface="Georgia"/>
              </a:rPr>
              <a:t>Problem Statement Title  –</a:t>
            </a:r>
          </a:p>
        </p:txBody>
      </p:sp>
      <p:sp>
        <p:nvSpPr>
          <p:cNvPr id="68" name="Google Shape;68;p15"/>
          <p:cNvSpPr txBox="1"/>
          <p:nvPr/>
        </p:nvSpPr>
        <p:spPr>
          <a:xfrm>
            <a:off x="514350" y="2125980"/>
            <a:ext cx="486918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defRPr sz="900" b="0">
                <a:solidFill>
                  <a:srgbClr val="2C3E50"/>
                </a:solidFill>
                <a:latin typeface="Times New Roman"/>
              </a:defRPr>
            </a:pPr>
            <a:r>
              <a:rPr sz="950" b="0">
                <a:solidFill>
                  <a:srgbClr val="2C3E50"/>
                </a:solidFill>
                <a:latin typeface="Georgia"/>
              </a:rPr>
              <a:t>AI-Powered Criminal Network Analysis System (Bureau of Police Research &amp; Development / Ministry of Home Affairs)</a:t>
            </a:r>
          </a:p>
        </p:txBody>
      </p:sp>
      <p:sp>
        <p:nvSpPr>
          <p:cNvPr id="69" name="Google Shape;69;p15"/>
          <p:cNvSpPr txBox="1"/>
          <p:nvPr/>
        </p:nvSpPr>
        <p:spPr>
          <a:xfrm>
            <a:off x="342900" y="2777490"/>
            <a:ext cx="5074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B4353"/>
                </a:solidFill>
                <a:latin typeface="Georgia"/>
              </a:defRPr>
            </a:pPr>
            <a:r>
              <a:t>Theme  –  Smart Automation / Cyber Security &amp; Law Enforcement (Featuring Case Copilot Voice AI)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342900" y="3120390"/>
            <a:ext cx="5074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defRPr sz="1000" b="1">
                <a:solidFill>
                  <a:srgbClr val="1B4353"/>
                </a:solidFill>
                <a:latin typeface="Georgia"/>
              </a:defRPr>
            </a:pPr>
            <a:r>
              <a:t>PS Category  –  Software (with Tactical Forensic Hardware Terminal &amp; Siri Voice Agent)</a:t>
            </a:r>
          </a:p>
        </p:txBody>
      </p:sp>
      <p:sp>
        <p:nvSpPr>
          <p:cNvPr id="71" name="Google Shape;71;p15"/>
          <p:cNvSpPr txBox="1"/>
          <p:nvPr/>
        </p:nvSpPr>
        <p:spPr>
          <a:xfrm>
            <a:off x="342900" y="3463290"/>
            <a:ext cx="5074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B4353"/>
                </a:solidFill>
                <a:latin typeface="Georgia"/>
              </a:defRPr>
            </a:pPr>
            <a:r>
              <a:t>Team Name  –  NCIS Core Cyber Intelligence Team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342900" y="3806190"/>
            <a:ext cx="5074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B4353"/>
                </a:solidFill>
                <a:latin typeface="Georgia"/>
              </a:rPr>
              <a:t>Team ID  –  T-SIH2026-89412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3" name="Picture 72" descr="forensix_tactical_device_hero_1788188446517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9270" y="1268730"/>
            <a:ext cx="2674620" cy="28666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/>
        </p:nvSpPr>
        <p:spPr>
          <a:xfrm>
            <a:off x="331470" y="198882"/>
            <a:ext cx="1645920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196F3D"/>
              </a:buClr>
              <a:buSzPts val="1100"/>
              <a:defRPr sz="1100" b="1">
                <a:solidFill>
                  <a:srgbClr val="196F3D"/>
                </a:solidFill>
                <a:latin typeface="Times New Roman"/>
              </a:defRPr>
            </a:pPr>
            <a:r>
              <a:t>NCIS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1954530" y="68580"/>
            <a:ext cx="52120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defRPr sz="1600" b="1">
                <a:solidFill>
                  <a:srgbClr val="1B4353"/>
                </a:solidFill>
                <a:latin typeface="Georgia"/>
              </a:defRPr>
            </a:pPr>
            <a:r>
              <a:t>PROPOSED SOLUTION — NCIS-TACTICAL (WITH CASE COPILOT &amp; SIH26150)</a:t>
            </a:r>
          </a:p>
        </p:txBody>
      </p:sp>
      <p:pic>
        <p:nvPicPr>
          <p:cNvPr id="83" name="Google Shape;83;p16" descr="/home/claude/sih2026_v2/assets/sih_logo_full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83830" y="96012"/>
            <a:ext cx="1152144" cy="54178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4" name="Google Shape;84;p16"/>
          <p:cNvCxnSpPr/>
          <p:nvPr/>
        </p:nvCxnSpPr>
        <p:spPr>
          <a:xfrm>
            <a:off x="205740" y="720090"/>
            <a:ext cx="8732291" cy="0"/>
          </a:xfrm>
          <a:prstGeom prst="straightConnector1">
            <a:avLst/>
          </a:prstGeom>
          <a:noFill/>
          <a:ln w="15875" cap="flat" cmpd="sng">
            <a:solidFill>
              <a:srgbClr val="2C3E50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85" name="Google Shape;85;p16"/>
          <p:cNvSpPr txBox="1"/>
          <p:nvPr/>
        </p:nvSpPr>
        <p:spPr>
          <a:xfrm>
            <a:off x="205740" y="4924044"/>
            <a:ext cx="480060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defRPr sz="700" b="0">
                <a:solidFill>
                  <a:srgbClr val="707B7C"/>
                </a:solidFill>
                <a:latin typeface="Calibri"/>
              </a:defRPr>
            </a:pPr>
            <a:r>
              <a:t>SIH 2026 — Idea Submission — NCIS</a:t>
            </a:r>
          </a:p>
        </p:txBody>
      </p:sp>
      <p:sp>
        <p:nvSpPr>
          <p:cNvPr id="86" name="Google Shape;86;p16"/>
          <p:cNvSpPr txBox="1"/>
          <p:nvPr/>
        </p:nvSpPr>
        <p:spPr>
          <a:xfrm>
            <a:off x="8641080" y="4924044"/>
            <a:ext cx="294894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07B7C"/>
              </a:buClr>
              <a:buSzPts val="700"/>
              <a:buFont typeface="Calibri"/>
              <a:buNone/>
            </a:pPr>
            <a:r>
              <a:rPr lang="en" sz="700" b="0" i="0" u="none" strike="noStrike" cap="none">
                <a:solidFill>
                  <a:srgbClr val="707B7C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6"/>
          <p:cNvSpPr txBox="1"/>
          <p:nvPr/>
        </p:nvSpPr>
        <p:spPr>
          <a:xfrm>
            <a:off x="205740" y="857250"/>
            <a:ext cx="2640330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6F1E"/>
              </a:buClr>
              <a:buSzPts val="1200"/>
              <a:buFont typeface="Cambria"/>
              <a:buNone/>
            </a:pPr>
            <a:r>
              <a:rPr lang="en" sz="1200" b="1" i="0" u="none" strike="noStrike" cap="none" dirty="0">
                <a:solidFill>
                  <a:srgbClr val="CA6F1E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Problem at Hand</a:t>
            </a:r>
            <a:endParaRPr sz="12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88" name="Google Shape;88;p16"/>
          <p:cNvSpPr/>
          <p:nvPr/>
        </p:nvSpPr>
        <p:spPr>
          <a:xfrm>
            <a:off x="205740" y="1165860"/>
            <a:ext cx="2640330" cy="720090"/>
          </a:xfrm>
          <a:prstGeom prst="rect">
            <a:avLst/>
          </a:prstGeom>
          <a:solidFill>
            <a:srgbClr val="FEF9E7"/>
          </a:solidFill>
          <a:ln w="12700" cap="flat" cmpd="sng">
            <a:solidFill>
              <a:srgbClr val="D4AC0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6"/>
          <p:cNvSpPr txBox="1"/>
          <p:nvPr/>
        </p:nvSpPr>
        <p:spPr>
          <a:xfrm>
            <a:off x="308610" y="1220724"/>
            <a:ext cx="2434590" cy="610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B83A24"/>
                </a:solidFill>
                <a:latin typeface="Georgia"/>
              </a:rPr>
              <a:t>Core Problem :</a:t>
            </a:r>
          </a:p>
          <a:p>
            <a:pPr/>
            <a:r>
              <a:rPr sz="750" b="0">
                <a:solidFill>
                  <a:srgbClr val="2C3E50"/>
                </a:solidFill>
                <a:latin typeface="Georgia"/>
              </a:rPr>
              <a:t>Police &amp; intelligence agencies collect fragmented crime data across 7 disparate sources (FIRs, CDRs, Hawala, CCTV, OSINT, NCRB, NATGRID). Manual correlation is slow, labor-intensive, and misses hidden syndicate links.</a:t>
            </a:r>
          </a:p>
        </p:txBody>
      </p:sp>
      <p:sp>
        <p:nvSpPr>
          <p:cNvPr id="90" name="Google Shape;90;p16"/>
          <p:cNvSpPr/>
          <p:nvPr/>
        </p:nvSpPr>
        <p:spPr>
          <a:xfrm>
            <a:off x="205740" y="1968246"/>
            <a:ext cx="2640330" cy="720090"/>
          </a:xfrm>
          <a:prstGeom prst="rect">
            <a:avLst/>
          </a:prstGeom>
          <a:solidFill>
            <a:srgbClr val="FADBD8"/>
          </a:solidFill>
          <a:ln w="12700" cap="flat" cmpd="sng">
            <a:solidFill>
              <a:srgbClr val="C0392B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6"/>
          <p:cNvSpPr txBox="1"/>
          <p:nvPr/>
        </p:nvSpPr>
        <p:spPr>
          <a:xfrm>
            <a:off x="308610" y="2023110"/>
            <a:ext cx="2434590" cy="610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B83A24"/>
                </a:solidFill>
                <a:latin typeface="Georgia"/>
              </a:defRPr>
            </a:pPr>
            <a:r>
              <a:t>Gap In Existing Solutions :</a:t>
            </a:r>
          </a:p>
          <a:p>
            <a:pPr>
              <a:defRPr sz="850" b="1">
                <a:solidFill>
                  <a:srgbClr val="B83A24"/>
                </a:solidFill>
                <a:latin typeface="Georgia"/>
              </a:defRPr>
            </a:pPr>
            <a:r>
              <a:t>Legacy forensic tools (Cellebrite, EnCase) cost ₹25–40L/year, impose 7–30 days lab delay, lack autonomous AI copilot assistance, and have zero real-time GIS patrol mesh integration for emergency dispatch.</a:t>
            </a:r>
          </a:p>
        </p:txBody>
      </p:sp>
      <p:sp>
        <p:nvSpPr>
          <p:cNvPr id="92" name="Google Shape;92;p16"/>
          <p:cNvSpPr/>
          <p:nvPr/>
        </p:nvSpPr>
        <p:spPr>
          <a:xfrm>
            <a:off x="205740" y="2770632"/>
            <a:ext cx="2640330" cy="720090"/>
          </a:xfrm>
          <a:prstGeom prst="rect">
            <a:avLst/>
          </a:prstGeom>
          <a:solidFill>
            <a:srgbClr val="E8DAEF"/>
          </a:solidFill>
          <a:ln w="12700" cap="flat" cmpd="sng">
            <a:solidFill>
              <a:srgbClr val="6C348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6"/>
          <p:cNvSpPr txBox="1"/>
          <p:nvPr/>
        </p:nvSpPr>
        <p:spPr>
          <a:xfrm>
            <a:off x="308610" y="2825496"/>
            <a:ext cx="2434590" cy="610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A3D7D"/>
                </a:solidFill>
                <a:latin typeface="Georgia"/>
              </a:rPr>
              <a:t>Scale Of The Problem :</a:t>
            </a:r>
          </a:p>
          <a:p>
            <a:pPr/>
            <a:r>
              <a:rPr sz="750" b="0">
                <a:solidFill>
                  <a:srgbClr val="2C3E50"/>
                </a:solidFill>
                <a:latin typeface="Georgia"/>
              </a:rPr>
              <a:t>Affects 16,000+ police stations, state cyber cells, NIA, NCB, and Dial 112 emergency patrol units dealing with cross-border syndicates nationwide.</a:t>
            </a:r>
          </a:p>
        </p:txBody>
      </p:sp>
      <p:sp>
        <p:nvSpPr>
          <p:cNvPr id="94" name="Google Shape;94;p16"/>
          <p:cNvSpPr/>
          <p:nvPr/>
        </p:nvSpPr>
        <p:spPr>
          <a:xfrm>
            <a:off x="205740" y="3573018"/>
            <a:ext cx="2640330" cy="720090"/>
          </a:xfrm>
          <a:prstGeom prst="rect">
            <a:avLst/>
          </a:prstGeom>
          <a:solidFill>
            <a:srgbClr val="D6EAF8"/>
          </a:solidFill>
          <a:ln w="12700" cap="flat" cmpd="sng">
            <a:solidFill>
              <a:srgbClr val="1F618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6"/>
          <p:cNvSpPr txBox="1"/>
          <p:nvPr/>
        </p:nvSpPr>
        <p:spPr>
          <a:xfrm>
            <a:off x="308610" y="3627882"/>
            <a:ext cx="2434590" cy="610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B5278"/>
                </a:solidFill>
                <a:latin typeface="Georgia"/>
              </a:rPr>
              <a:t>Consequence If Unsolved :</a:t>
            </a:r>
          </a:p>
          <a:p>
            <a:pPr/>
            <a:r>
              <a:rPr sz="750" b="0">
                <a:solidFill>
                  <a:srgbClr val="2C3E50"/>
                </a:solidFill>
                <a:latin typeface="Georgia"/>
              </a:rPr>
              <a:t>Delayed kingpin identification, fragmented evidence chains, financial hawala channels escaping detection, and fugitive escapes during active investigations.</a:t>
            </a:r>
          </a:p>
        </p:txBody>
      </p:sp>
      <p:sp>
        <p:nvSpPr>
          <p:cNvPr id="96" name="Google Shape;96;p16"/>
          <p:cNvSpPr txBox="1"/>
          <p:nvPr/>
        </p:nvSpPr>
        <p:spPr>
          <a:xfrm>
            <a:off x="3017520" y="857250"/>
            <a:ext cx="2640330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96F3D"/>
              </a:buClr>
              <a:buSzPts val="1200"/>
              <a:buFont typeface="Cambria"/>
              <a:buNone/>
            </a:pPr>
            <a:r>
              <a:rPr lang="en" sz="1200" b="1" i="0" u="none" strike="noStrike" cap="none" dirty="0">
                <a:solidFill>
                  <a:srgbClr val="196F3D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Our Solution</a:t>
            </a:r>
            <a:endParaRPr sz="12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3017520" y="1165860"/>
            <a:ext cx="2640330" cy="1303020"/>
          </a:xfrm>
          <a:prstGeom prst="rect">
            <a:avLst/>
          </a:prstGeom>
          <a:solidFill>
            <a:srgbClr val="1B263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6"/>
          <p:cNvSpPr txBox="1"/>
          <p:nvPr/>
        </p:nvSpPr>
        <p:spPr>
          <a:xfrm>
            <a:off x="3154680" y="1268730"/>
            <a:ext cx="236601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defRPr sz="900" b="1">
                <a:solidFill>
                  <a:srgbClr val="154360"/>
                </a:solidFill>
                <a:latin typeface="Times New Roman"/>
              </a:defRPr>
            </a:pPr>
            <a:r>
              <a:t>Concept Diagram — NCIS Unified Dual Architecture</a:t>
            </a:r>
          </a:p>
        </p:txBody>
      </p:sp>
      <p:sp>
        <p:nvSpPr>
          <p:cNvPr id="99" name="Google Shape;99;p16"/>
          <p:cNvSpPr txBox="1"/>
          <p:nvPr/>
        </p:nvSpPr>
        <p:spPr>
          <a:xfrm>
            <a:off x="3154680" y="1577340"/>
            <a:ext cx="236601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defRPr sz="800" b="1">
                <a:solidFill>
                  <a:srgbClr val="1B4353"/>
                </a:solidFill>
                <a:latin typeface="Georgia"/>
              </a:defRPr>
            </a:pPr>
            <a:r>
              <a:t>NCIS-TACTICAL: 6 Operational Modules + Case Copilot Voice AI + Tactical Hardware</a:t>
            </a:r>
          </a:p>
        </p:txBody>
      </p:sp>
      <p:sp>
        <p:nvSpPr>
          <p:cNvPr id="100" name="Google Shape;100;p16"/>
          <p:cNvSpPr txBox="1"/>
          <p:nvPr/>
        </p:nvSpPr>
        <p:spPr>
          <a:xfrm>
            <a:off x="3154680" y="2057400"/>
            <a:ext cx="236601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>
              <a:defRPr sz="700" b="1">
                <a:solidFill>
                  <a:srgbClr val="1B4353"/>
                </a:solidFill>
                <a:latin typeface="Georgia"/>
              </a:defRPr>
            </a:pPr>
            <a:r>
              <a:t>6 OPERATIONAL MODULES (CORE) + CASE COPILOT AGENTIC VOICE AI + TACTICAL HARDWARE</a:t>
            </a:r>
          </a:p>
        </p:txBody>
      </p:sp>
      <p:sp>
        <p:nvSpPr>
          <p:cNvPr id="101" name="Google Shape;101;p16"/>
          <p:cNvSpPr txBox="1"/>
          <p:nvPr/>
        </p:nvSpPr>
        <p:spPr>
          <a:xfrm>
            <a:off x="3017520" y="2606040"/>
            <a:ext cx="2640330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6F1E"/>
              </a:buClr>
              <a:buSzPts val="1100"/>
              <a:buFont typeface="Cambria"/>
              <a:buNone/>
            </a:pPr>
            <a:r>
              <a:rPr lang="en" sz="1100" b="1" i="0" u="none" strike="noStrike" cap="none" dirty="0">
                <a:solidFill>
                  <a:srgbClr val="CA6F1E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Why We Stand Out</a:t>
            </a:r>
            <a:endParaRPr sz="11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02" name="Google Shape;102;p16"/>
          <p:cNvSpPr/>
          <p:nvPr/>
        </p:nvSpPr>
        <p:spPr>
          <a:xfrm>
            <a:off x="3017520" y="2880360"/>
            <a:ext cx="2640330" cy="1611630"/>
          </a:xfrm>
          <a:prstGeom prst="rect">
            <a:avLst/>
          </a:prstGeom>
          <a:solidFill>
            <a:srgbClr val="FEF9E7"/>
          </a:solidFill>
          <a:ln w="12700" cap="flat" cmpd="sng">
            <a:solidFill>
              <a:srgbClr val="D4AC0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6"/>
          <p:cNvSpPr txBox="1"/>
          <p:nvPr/>
        </p:nvSpPr>
        <p:spPr>
          <a:xfrm>
            <a:off x="3140964" y="2983230"/>
            <a:ext cx="2393442" cy="1440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defRPr sz="750" b="1">
                <a:solidFill>
                  <a:srgbClr val="187242"/>
                </a:solidFill>
                <a:latin typeface="Georgia"/>
              </a:defRPr>
            </a:pPr>
            <a:r>
              <a:t>• Differentiator 1 — Unified 6-Module Core &amp; Case Copilot: Fulfills PS 189 with Live Surveillance, Digital Forensics, GNN Syndicate Graph, ERSS Patrol Mesh, Tactical Hardware, and Autonomous Agentic Voice/NLP Copilot.</a:t>
            </a:r>
          </a:p>
          <a:p>
            <a:pPr>
              <a:defRPr sz="750" b="1">
                <a:solidFill>
                  <a:srgbClr val="187242"/>
                </a:solidFill>
                <a:latin typeface="Georgia"/>
              </a:defRPr>
            </a:pPr>
            <a:r>
              <a:t>• Differentiator 2 — Siri Voice Agent &amp; Missing Evidence Radar: Siri-style independent voice agent (EN/HI/TA), Web Speech API mic + TTS (≤3 sentences), missing evidence radar, and interactive GIS touch tracking with Haversine dynamic ETA.</a:t>
            </a:r>
          </a:p>
          <a:p>
            <a:pPr>
              <a:defRPr sz="750" b="1">
                <a:solidFill>
                  <a:srgbClr val="187242"/>
                </a:solidFill>
                <a:latin typeface="Georgia"/>
              </a:defRPr>
            </a:pPr>
            <a:r>
              <a:t>• Differentiator 3 — SIH26150 Multi-Vendor DVR &amp; Judicial Seal: Hardware write-blocker bus switch, multi-vendor DVR/NVR extraction (Hikvision, Dahua, CP Plus), and BNS 2023 Sec 63 / BSA Sec 65B SHA-256 court evidence.</a:t>
            </a:r>
          </a:p>
        </p:txBody>
      </p:sp>
      <p:sp>
        <p:nvSpPr>
          <p:cNvPr id="104" name="Google Shape;104;p16"/>
          <p:cNvSpPr txBox="1"/>
          <p:nvPr/>
        </p:nvSpPr>
        <p:spPr>
          <a:xfrm>
            <a:off x="5829300" y="857250"/>
            <a:ext cx="3108731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618D"/>
              </a:buClr>
              <a:buSzPts val="1200"/>
              <a:buFont typeface="Cambria"/>
              <a:buNone/>
            </a:pPr>
            <a:r>
              <a:rPr lang="en" sz="1200" b="1" i="0" u="none" strike="noStrike" cap="none" dirty="0">
                <a:solidFill>
                  <a:srgbClr val="1F618D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Key Features</a:t>
            </a:r>
            <a:endParaRPr sz="12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05" name="Google Shape;105;p16"/>
          <p:cNvSpPr/>
          <p:nvPr/>
        </p:nvSpPr>
        <p:spPr>
          <a:xfrm>
            <a:off x="5829300" y="1200150"/>
            <a:ext cx="233172" cy="233172"/>
          </a:xfrm>
          <a:prstGeom prst="ellipse">
            <a:avLst/>
          </a:prstGeom>
          <a:solidFill>
            <a:srgbClr val="1F618D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6"/>
          <p:cNvSpPr txBox="1"/>
          <p:nvPr/>
        </p:nvSpPr>
        <p:spPr>
          <a:xfrm>
            <a:off x="5829300" y="1200150"/>
            <a:ext cx="233172" cy="233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6"/>
          <p:cNvSpPr txBox="1"/>
          <p:nvPr/>
        </p:nvSpPr>
        <p:spPr>
          <a:xfrm>
            <a:off x="6144768" y="1172718"/>
            <a:ext cx="2765831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1B4353"/>
                </a:solidFill>
                <a:latin typeface="Georgia"/>
              </a:defRPr>
            </a:pPr>
            <a:r>
              <a:t>MOD-01: Live Surveillance</a:t>
            </a: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defRPr sz="850" b="1">
                <a:solidFill>
                  <a:srgbClr val="1B4353"/>
                </a:solidFill>
                <a:latin typeface="Georgia"/>
              </a:defRPr>
            </a:pPr>
            <a:r>
              <a:t>Sub-50ms live camera ingestion, OpenCV face detection, and WebSocket stream</a:t>
            </a:r>
          </a:p>
        </p:txBody>
      </p:sp>
      <p:sp>
        <p:nvSpPr>
          <p:cNvPr id="108" name="Google Shape;108;p16"/>
          <p:cNvSpPr/>
          <p:nvPr/>
        </p:nvSpPr>
        <p:spPr>
          <a:xfrm>
            <a:off x="5829300" y="1796796"/>
            <a:ext cx="233172" cy="233172"/>
          </a:xfrm>
          <a:prstGeom prst="ellipse">
            <a:avLst/>
          </a:prstGeom>
          <a:solidFill>
            <a:srgbClr val="196F3D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16"/>
          <p:cNvSpPr txBox="1"/>
          <p:nvPr/>
        </p:nvSpPr>
        <p:spPr>
          <a:xfrm>
            <a:off x="5829300" y="1796796"/>
            <a:ext cx="233172" cy="233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6"/>
          <p:cNvSpPr txBox="1"/>
          <p:nvPr/>
        </p:nvSpPr>
        <p:spPr>
          <a:xfrm>
            <a:off x="6144768" y="1769364"/>
            <a:ext cx="2765831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1B4353"/>
                </a:solidFill>
                <a:latin typeface="Georgia"/>
              </a:defRPr>
            </a:pPr>
            <a:r>
              <a:t>MOD-02: Digital Forensics &amp; SIH26150 DVR</a:t>
            </a:r>
            <a:endParaRPr sz="8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>
              <a:defRPr sz="850" b="1">
                <a:solidFill>
                  <a:srgbClr val="1B4353"/>
                </a:solidFill>
                <a:latin typeface="Georgia"/>
              </a:defRPr>
            </a:pPr>
            <a:r>
              <a:t>131,072 sector carving with Hailo NPU (26 TOPS) &amp; multi-vendor DVR forensics</a:t>
            </a:r>
          </a:p>
        </p:txBody>
      </p:sp>
      <p:sp>
        <p:nvSpPr>
          <p:cNvPr id="111" name="Google Shape;111;p16"/>
          <p:cNvSpPr/>
          <p:nvPr/>
        </p:nvSpPr>
        <p:spPr>
          <a:xfrm>
            <a:off x="5829300" y="2393442"/>
            <a:ext cx="233172" cy="233172"/>
          </a:xfrm>
          <a:prstGeom prst="ellipse">
            <a:avLst/>
          </a:prstGeom>
          <a:solidFill>
            <a:srgbClr val="CA6F1E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16"/>
          <p:cNvSpPr txBox="1"/>
          <p:nvPr/>
        </p:nvSpPr>
        <p:spPr>
          <a:xfrm>
            <a:off x="5829300" y="2393442"/>
            <a:ext cx="233172" cy="233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6"/>
          <p:cNvSpPr txBox="1"/>
          <p:nvPr/>
        </p:nvSpPr>
        <p:spPr>
          <a:xfrm>
            <a:off x="6144768" y="2366010"/>
            <a:ext cx="2765831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1B4353"/>
                </a:solidFill>
                <a:latin typeface="Georgia"/>
              </a:defRPr>
            </a:pPr>
            <a:r>
              <a:t>MOD-03: GNN Syndicate Intel</a:t>
            </a:r>
            <a:endParaRPr sz="8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>
              <a:defRPr sz="850" b="1">
                <a:solidFill>
                  <a:srgbClr val="1B4353"/>
                </a:solidFill>
                <a:latin typeface="Georgia"/>
              </a:defRPr>
            </a:pPr>
            <a:r>
              <a:t>Spectral GCN maps syndicate topology with 98.6% precision &amp; Centrality</a:t>
            </a:r>
          </a:p>
        </p:txBody>
      </p:sp>
      <p:sp>
        <p:nvSpPr>
          <p:cNvPr id="114" name="Google Shape;114;p16"/>
          <p:cNvSpPr/>
          <p:nvPr/>
        </p:nvSpPr>
        <p:spPr>
          <a:xfrm>
            <a:off x="5829300" y="2990088"/>
            <a:ext cx="233172" cy="233172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16"/>
          <p:cNvSpPr txBox="1"/>
          <p:nvPr/>
        </p:nvSpPr>
        <p:spPr>
          <a:xfrm>
            <a:off x="5829300" y="2990088"/>
            <a:ext cx="233172" cy="233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6"/>
          <p:cNvSpPr txBox="1"/>
          <p:nvPr/>
        </p:nvSpPr>
        <p:spPr>
          <a:xfrm>
            <a:off x="6144768" y="2962656"/>
            <a:ext cx="2765831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1B4353"/>
                </a:solidFill>
                <a:latin typeface="Georgia"/>
              </a:defRPr>
            </a:pPr>
            <a:r>
              <a:t>MOD-04: ERSS Patrol Mesh</a:t>
            </a:r>
            <a:endParaRPr sz="8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>
              <a:defRPr sz="850" b="1">
                <a:solidFill>
                  <a:srgbClr val="1B4353"/>
                </a:solidFill>
                <a:latin typeface="Georgia"/>
              </a:defRPr>
            </a:pPr>
            <a:r>
              <a:t>Interactive GIS map with touch tracking, Haversine distance &amp; rapid dispatch</a:t>
            </a:r>
          </a:p>
        </p:txBody>
      </p:sp>
      <p:sp>
        <p:nvSpPr>
          <p:cNvPr id="117" name="Google Shape;117;p16"/>
          <p:cNvSpPr/>
          <p:nvPr/>
        </p:nvSpPr>
        <p:spPr>
          <a:xfrm>
            <a:off x="5829300" y="3586734"/>
            <a:ext cx="233172" cy="233172"/>
          </a:xfrm>
          <a:prstGeom prst="ellipse">
            <a:avLst/>
          </a:prstGeom>
          <a:solidFill>
            <a:srgbClr val="6C3483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5829300" y="3586734"/>
            <a:ext cx="233172" cy="233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 txBox="1"/>
          <p:nvPr/>
        </p:nvSpPr>
        <p:spPr>
          <a:xfrm>
            <a:off x="6144768" y="3559302"/>
            <a:ext cx="2765831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1B4353"/>
                </a:solidFill>
                <a:latin typeface="Georgia"/>
              </a:defRPr>
            </a:pPr>
            <a:r>
              <a:t>MOD-05: Tactical Hardware</a:t>
            </a:r>
          </a:p>
          <a:p>
            <a:pPr>
              <a:defRPr sz="850" b="1">
                <a:solidFill>
                  <a:srgbClr val="1B4353"/>
                </a:solidFill>
                <a:latin typeface="Georgia"/>
              </a:defRPr>
            </a:pPr>
            <a:r>
              <a:t>Physical write-blocker locks, multi-bus selector (PCIe/SATA/USB), raw hex dump</a:t>
            </a:r>
          </a:p>
        </p:txBody>
      </p:sp>
      <p:sp>
        <p:nvSpPr>
          <p:cNvPr id="120" name="Google Shape;120;p16"/>
          <p:cNvSpPr/>
          <p:nvPr/>
        </p:nvSpPr>
        <p:spPr>
          <a:xfrm>
            <a:off x="5829300" y="4183380"/>
            <a:ext cx="233172" cy="233172"/>
          </a:xfrm>
          <a:prstGeom prst="ellipse">
            <a:avLst/>
          </a:prstGeom>
          <a:solidFill>
            <a:srgbClr val="1B263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5829300" y="4183380"/>
            <a:ext cx="233172" cy="233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6"/>
          <p:cNvSpPr txBox="1"/>
          <p:nvPr/>
        </p:nvSpPr>
        <p:spPr>
          <a:xfrm>
            <a:off x="6144768" y="4155948"/>
            <a:ext cx="2765831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1B4353"/>
                </a:solidFill>
                <a:latin typeface="Georgia"/>
              </a:defRPr>
            </a:pPr>
            <a:r>
              <a:t>MOD-06: Case Copilot Voice AI</a:t>
            </a:r>
            <a:endParaRPr sz="8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>
              <a:defRPr sz="850" b="1">
                <a:solidFill>
                  <a:srgbClr val="1B4353"/>
                </a:solidFill>
                <a:latin typeface="Georgia"/>
              </a:defRPr>
            </a:pPr>
            <a:r>
              <a:t>Siri voice agent, multilingual NLP, auto BNSS 94/107 drafts &amp; 100% 50-case benchmark</a:t>
            </a:r>
          </a:p>
        </p:txBody>
      </p:sp>
      <p:pic>
        <p:nvPicPr>
          <p:cNvPr id="123" name="Picture 122" descr="facial_recognition_ncrb_ui_178818851222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8366" y="1056133"/>
            <a:ext cx="2818637" cy="151561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7"/>
          <p:cNvSpPr txBox="1"/>
          <p:nvPr/>
        </p:nvSpPr>
        <p:spPr>
          <a:xfrm>
            <a:off x="295923" y="164592"/>
            <a:ext cx="1645920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196F3D"/>
              </a:buClr>
              <a:buSzPts val="1100"/>
              <a:defRPr sz="1100" b="1">
                <a:solidFill>
                  <a:srgbClr val="196F3D"/>
                </a:solidFill>
                <a:latin typeface="Times New Roman"/>
              </a:defRPr>
            </a:pPr>
            <a:r>
              <a:t>NCIS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 txBox="1"/>
          <p:nvPr/>
        </p:nvSpPr>
        <p:spPr>
          <a:xfrm>
            <a:off x="1982991" y="34290"/>
            <a:ext cx="52120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54360"/>
              </a:buClr>
              <a:buSzPts val="1900"/>
              <a:buFont typeface="Cambria"/>
              <a:buNone/>
            </a:pPr>
            <a:r>
              <a:rPr lang="en" sz="1900" b="1" i="0" u="none" strike="noStrike" cap="none" dirty="0">
                <a:solidFill>
                  <a:srgbClr val="154360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TECHNICAL APPROACH</a:t>
            </a:r>
            <a:endParaRPr sz="19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132" name="Google Shape;132;p17" descr="/home/claude/sih2026_v2/assets/sih_logo_full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83830" y="96012"/>
            <a:ext cx="1152144" cy="54178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3" name="Google Shape;133;p17"/>
          <p:cNvCxnSpPr/>
          <p:nvPr/>
        </p:nvCxnSpPr>
        <p:spPr>
          <a:xfrm>
            <a:off x="205740" y="720090"/>
            <a:ext cx="8732291" cy="0"/>
          </a:xfrm>
          <a:prstGeom prst="straightConnector1">
            <a:avLst/>
          </a:prstGeom>
          <a:noFill/>
          <a:ln w="15875" cap="flat" cmpd="sng">
            <a:solidFill>
              <a:srgbClr val="2C3E50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34" name="Google Shape;134;p17"/>
          <p:cNvSpPr txBox="1"/>
          <p:nvPr/>
        </p:nvSpPr>
        <p:spPr>
          <a:xfrm>
            <a:off x="205740" y="4924044"/>
            <a:ext cx="480060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defRPr sz="700" b="0">
                <a:solidFill>
                  <a:srgbClr val="707B7C"/>
                </a:solidFill>
                <a:latin typeface="Calibri"/>
              </a:defRPr>
            </a:pPr>
            <a:r>
              <a:t>SIH 2026 — Idea Submission — NCIS</a:t>
            </a:r>
          </a:p>
        </p:txBody>
      </p:sp>
      <p:sp>
        <p:nvSpPr>
          <p:cNvPr id="135" name="Google Shape;135;p17"/>
          <p:cNvSpPr txBox="1"/>
          <p:nvPr/>
        </p:nvSpPr>
        <p:spPr>
          <a:xfrm>
            <a:off x="8641080" y="4924044"/>
            <a:ext cx="294894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07B7C"/>
              </a:buClr>
              <a:buSzPts val="700"/>
              <a:buFont typeface="Calibri"/>
              <a:buNone/>
            </a:pPr>
            <a:r>
              <a:rPr lang="en" sz="700" b="0" i="0" u="none" strike="noStrike" cap="none">
                <a:solidFill>
                  <a:srgbClr val="707B7C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7"/>
          <p:cNvSpPr/>
          <p:nvPr/>
        </p:nvSpPr>
        <p:spPr>
          <a:xfrm>
            <a:off x="577101" y="857250"/>
            <a:ext cx="1405890" cy="651510"/>
          </a:xfrm>
          <a:prstGeom prst="rect">
            <a:avLst/>
          </a:prstGeom>
          <a:solidFill>
            <a:srgbClr val="D6EAF8"/>
          </a:solidFill>
          <a:ln w="15875" cap="flat" cmpd="sng">
            <a:solidFill>
              <a:srgbClr val="1F618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17"/>
          <p:cNvSpPr/>
          <p:nvPr/>
        </p:nvSpPr>
        <p:spPr>
          <a:xfrm>
            <a:off x="645681" y="925830"/>
            <a:ext cx="192024" cy="192024"/>
          </a:xfrm>
          <a:prstGeom prst="ellipse">
            <a:avLst/>
          </a:prstGeom>
          <a:solidFill>
            <a:srgbClr val="1F618D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645681" y="925830"/>
            <a:ext cx="192024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7"/>
          <p:cNvSpPr txBox="1"/>
          <p:nvPr/>
        </p:nvSpPr>
        <p:spPr>
          <a:xfrm>
            <a:off x="645681" y="1134999"/>
            <a:ext cx="1296162" cy="30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/>
            <a:r>
              <a:rPr sz="800" b="1">
                <a:solidFill>
                  <a:srgbClr val="1B4353"/>
                </a:solidFill>
                <a:latin typeface="Georgia"/>
              </a:rPr>
              <a:t>Sub-50ms Multi-Source
Ingestion &amp; OpenCV</a:t>
            </a:r>
          </a:p>
        </p:txBody>
      </p:sp>
      <p:sp>
        <p:nvSpPr>
          <p:cNvPr id="140" name="Google Shape;140;p17"/>
          <p:cNvSpPr txBox="1"/>
          <p:nvPr/>
        </p:nvSpPr>
        <p:spPr>
          <a:xfrm>
            <a:off x="1982991" y="857250"/>
            <a:ext cx="240030" cy="651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None/>
            </a:pPr>
            <a:r>
              <a:rPr lang="en" sz="1400" b="1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2223021" y="857250"/>
            <a:ext cx="1405890" cy="651510"/>
          </a:xfrm>
          <a:prstGeom prst="rect">
            <a:avLst/>
          </a:prstGeom>
          <a:solidFill>
            <a:srgbClr val="D6EAF8"/>
          </a:solidFill>
          <a:ln w="15875" cap="flat" cmpd="sng">
            <a:solidFill>
              <a:srgbClr val="196F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/>
          </a:p>
        </p:txBody>
      </p:sp>
      <p:sp>
        <p:nvSpPr>
          <p:cNvPr id="142" name="Google Shape;142;p17"/>
          <p:cNvSpPr/>
          <p:nvPr/>
        </p:nvSpPr>
        <p:spPr>
          <a:xfrm>
            <a:off x="2291601" y="925830"/>
            <a:ext cx="192024" cy="192024"/>
          </a:xfrm>
          <a:prstGeom prst="ellipse">
            <a:avLst/>
          </a:prstGeom>
          <a:solidFill>
            <a:srgbClr val="196F3D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2291601" y="925830"/>
            <a:ext cx="192024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 txBox="1"/>
          <p:nvPr/>
        </p:nvSpPr>
        <p:spPr>
          <a:xfrm>
            <a:off x="3628911" y="857250"/>
            <a:ext cx="240030" cy="651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None/>
            </a:pPr>
            <a:r>
              <a:rPr lang="en" sz="1400" b="1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/>
          <p:nvPr/>
        </p:nvSpPr>
        <p:spPr>
          <a:xfrm>
            <a:off x="3868941" y="857250"/>
            <a:ext cx="1405890" cy="651510"/>
          </a:xfrm>
          <a:prstGeom prst="rect">
            <a:avLst/>
          </a:prstGeom>
          <a:solidFill>
            <a:srgbClr val="D6EAF8"/>
          </a:solidFill>
          <a:ln w="15875" cap="flat" cmpd="sng">
            <a:solidFill>
              <a:srgbClr val="CA6F1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7"/>
          <p:cNvSpPr/>
          <p:nvPr/>
        </p:nvSpPr>
        <p:spPr>
          <a:xfrm>
            <a:off x="3937521" y="925830"/>
            <a:ext cx="192024" cy="192024"/>
          </a:xfrm>
          <a:prstGeom prst="ellipse">
            <a:avLst/>
          </a:prstGeom>
          <a:solidFill>
            <a:srgbClr val="CA6F1E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3937521" y="925830"/>
            <a:ext cx="192024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 txBox="1"/>
          <p:nvPr/>
        </p:nvSpPr>
        <p:spPr>
          <a:xfrm>
            <a:off x="3914718" y="1134999"/>
            <a:ext cx="1296162" cy="30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defRPr sz="800" b="1">
                <a:solidFill>
                  <a:srgbClr val="1B4353"/>
                </a:solidFill>
                <a:latin typeface="Georgia"/>
              </a:defRPr>
            </a:pPr>
            <a:r>
              <a:t>Case Copilot Voice &amp;</a:t>
            </a:r>
          </a:p>
          <a:p>
            <a:pPr>
              <a:defRPr sz="800" b="1">
                <a:solidFill>
                  <a:srgbClr val="1B4353"/>
                </a:solidFill>
                <a:latin typeface="Georgia"/>
              </a:defRPr>
            </a:pPr>
            <a:r>
              <a:t>NLP Tool-Calling Engine</a:t>
            </a:r>
          </a:p>
        </p:txBody>
      </p:sp>
      <p:sp>
        <p:nvSpPr>
          <p:cNvPr id="150" name="Google Shape;150;p17"/>
          <p:cNvSpPr txBox="1"/>
          <p:nvPr/>
        </p:nvSpPr>
        <p:spPr>
          <a:xfrm>
            <a:off x="5274831" y="857250"/>
            <a:ext cx="240030" cy="651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None/>
            </a:pPr>
            <a:r>
              <a:rPr lang="en" sz="1400" b="1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5514861" y="857250"/>
            <a:ext cx="1405890" cy="651510"/>
          </a:xfrm>
          <a:prstGeom prst="rect">
            <a:avLst/>
          </a:prstGeom>
          <a:solidFill>
            <a:srgbClr val="D6EAF8"/>
          </a:solidFill>
          <a:ln w="15875" cap="flat" cmpd="sng">
            <a:solidFill>
              <a:srgbClr val="6C348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7"/>
          <p:cNvSpPr/>
          <p:nvPr/>
        </p:nvSpPr>
        <p:spPr>
          <a:xfrm>
            <a:off x="5583441" y="925830"/>
            <a:ext cx="192024" cy="192024"/>
          </a:xfrm>
          <a:prstGeom prst="ellipse">
            <a:avLst/>
          </a:prstGeom>
          <a:solidFill>
            <a:srgbClr val="6C3483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5583441" y="925830"/>
            <a:ext cx="192024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 txBox="1"/>
          <p:nvPr/>
        </p:nvSpPr>
        <p:spPr>
          <a:xfrm>
            <a:off x="5569725" y="1159002"/>
            <a:ext cx="1296162" cy="30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/>
            <a:r>
              <a:rPr sz="800" b="1">
                <a:solidFill>
                  <a:srgbClr val="1B4353"/>
                </a:solidFill>
                <a:latin typeface="Georgia"/>
              </a:rPr>
              <a:t>Interactive Vector GIS
&amp; Haversine Tracking</a:t>
            </a:r>
          </a:p>
        </p:txBody>
      </p:sp>
      <p:sp>
        <p:nvSpPr>
          <p:cNvPr id="155" name="Google Shape;155;p17"/>
          <p:cNvSpPr txBox="1"/>
          <p:nvPr/>
        </p:nvSpPr>
        <p:spPr>
          <a:xfrm>
            <a:off x="6920751" y="857250"/>
            <a:ext cx="240030" cy="651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None/>
            </a:pPr>
            <a:r>
              <a:rPr lang="en" sz="1400" b="1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7160781" y="857250"/>
            <a:ext cx="1405890" cy="651510"/>
          </a:xfrm>
          <a:prstGeom prst="rect">
            <a:avLst/>
          </a:prstGeom>
          <a:solidFill>
            <a:srgbClr val="D6EAF8"/>
          </a:solidFill>
          <a:ln w="15875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7"/>
          <p:cNvSpPr/>
          <p:nvPr/>
        </p:nvSpPr>
        <p:spPr>
          <a:xfrm>
            <a:off x="7229361" y="925830"/>
            <a:ext cx="192024" cy="192024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7229361" y="925830"/>
            <a:ext cx="192024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 txBox="1"/>
          <p:nvPr/>
        </p:nvSpPr>
        <p:spPr>
          <a:xfrm>
            <a:off x="7215645" y="1159002"/>
            <a:ext cx="1296162" cy="30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/>
            <a:r>
              <a:rPr sz="800" b="1">
                <a:solidFill>
                  <a:srgbClr val="1B4353"/>
                </a:solidFill>
                <a:latin typeface="Georgia"/>
              </a:rPr>
              <a:t>Dual ERSS Patrol Mesh
&amp; BNS 63 Evidence Seal</a:t>
            </a:r>
          </a:p>
        </p:txBody>
      </p:sp>
      <p:sp>
        <p:nvSpPr>
          <p:cNvPr id="161" name="Google Shape;161;p17"/>
          <p:cNvSpPr/>
          <p:nvPr/>
        </p:nvSpPr>
        <p:spPr>
          <a:xfrm>
            <a:off x="205740" y="1885950"/>
            <a:ext cx="2773601" cy="1371600"/>
          </a:xfrm>
          <a:prstGeom prst="rect">
            <a:avLst/>
          </a:prstGeom>
          <a:solidFill>
            <a:srgbClr val="FEF9E7"/>
          </a:solidFill>
          <a:ln w="12700" cap="flat" cmpd="sng">
            <a:solidFill>
              <a:srgbClr val="D4AC0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308610" y="1954530"/>
            <a:ext cx="2567864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6F1E"/>
              </a:buClr>
              <a:buSzPts val="1000"/>
              <a:buFont typeface="Cambria"/>
              <a:buNone/>
            </a:pPr>
            <a:r>
              <a:rPr lang="en" sz="1000" b="1" i="0" u="none" strike="noStrike" cap="none" dirty="0">
                <a:solidFill>
                  <a:srgbClr val="CA6F1E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Tech Stack</a:t>
            </a:r>
            <a:endParaRPr sz="10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63" name="Google Shape;163;p17"/>
          <p:cNvSpPr txBox="1"/>
          <p:nvPr/>
        </p:nvSpPr>
        <p:spPr>
          <a:xfrm>
            <a:off x="308610" y="2228850"/>
            <a:ext cx="2567864" cy="1008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defRPr sz="720" b="1">
                <a:solidFill>
                  <a:srgbClr val="1B4353"/>
                </a:solidFill>
                <a:latin typeface="Georgia"/>
              </a:defRPr>
            </a:pPr>
            <a:r>
              <a:t>• Frontend  : React 18, Tailwind CSS, Apple iOS Glassmorphism UI, Web Speech API / TTS, Siri Orb Visualizer, Vector GIS</a:t>
            </a:r>
            <a:endParaRPr sz="8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>
              <a:defRPr sz="720" b="1">
                <a:solidFill>
                  <a:srgbClr val="1B4353"/>
                </a:solidFill>
                <a:latin typeface="Georgia"/>
              </a:defRPr>
            </a:pPr>
            <a:r>
              <a:t>• Backend   : Python FastAPI, OpenCV Headless, Redis, PostgreSQL, Case Copilot Autonomous Engine</a:t>
            </a:r>
          </a:p>
          <a:p>
            <a:pPr>
              <a:defRPr sz="720" b="1">
                <a:solidFill>
                  <a:srgbClr val="1B4353"/>
                </a:solidFill>
                <a:latin typeface="Georgia"/>
              </a:defRPr>
            </a:pPr>
            <a:r>
              <a:t>• AI/ML &amp; NLP: PyTorch Geometric GCN (98.6%), Indian Legal NLP NER, Hailo NPU (26 TOPS), Whisper/Web Speech</a:t>
            </a:r>
          </a:p>
          <a:p>
            <a:pPr>
              <a:defRPr sz="720" b="1">
                <a:solidFill>
                  <a:srgbClr val="1B4353"/>
                </a:solidFill>
                <a:latin typeface="Georgia"/>
              </a:defRPr>
            </a:pPr>
            <a:r>
              <a:t>• Forensics : SIH26150 DVR/NVR Tool, Tactical Write-Blocker Bus (PCIe NVMe, SATA III, USB 3.2, JTAG)</a:t>
            </a:r>
          </a:p>
        </p:txBody>
      </p:sp>
      <p:sp>
        <p:nvSpPr>
          <p:cNvPr id="164" name="Google Shape;164;p17"/>
          <p:cNvSpPr/>
          <p:nvPr/>
        </p:nvSpPr>
        <p:spPr>
          <a:xfrm>
            <a:off x="3185083" y="1885950"/>
            <a:ext cx="2773603" cy="1371600"/>
          </a:xfrm>
          <a:prstGeom prst="rect">
            <a:avLst/>
          </a:prstGeom>
          <a:solidFill>
            <a:srgbClr val="D6EAF8"/>
          </a:solidFill>
          <a:ln w="12700" cap="flat" cmpd="sng">
            <a:solidFill>
              <a:srgbClr val="1F618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3287953" y="1954530"/>
            <a:ext cx="2567864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618D"/>
              </a:buClr>
              <a:buSzPts val="1000"/>
              <a:buFont typeface="Cambria"/>
              <a:buNone/>
            </a:pPr>
            <a:r>
              <a:rPr lang="en" sz="1000" b="1" i="0" u="none" strike="noStrike" cap="none">
                <a:solidFill>
                  <a:srgbClr val="1F618D"/>
                </a:solidFill>
                <a:latin typeface="Cambria"/>
                <a:ea typeface="Cambria"/>
                <a:cs typeface="Cambria"/>
                <a:sym typeface="Cambria"/>
              </a:rPr>
              <a:t>Connectivity &amp; Security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7"/>
          <p:cNvSpPr txBox="1"/>
          <p:nvPr/>
        </p:nvSpPr>
        <p:spPr>
          <a:xfrm>
            <a:off x="3287953" y="2228850"/>
            <a:ext cx="2567864" cy="891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0" lvl="0" algn="l" rtl="0">
              <a:spcBef>
                <a:spcPts val="500"/>
              </a:spcBef>
              <a:spcAft>
                <a:spcPts val="0"/>
              </a:spcAft>
              <a:defRPr sz="720" b="1">
                <a:solidFill>
                  <a:srgbClr val="1B4353"/>
                </a:solidFill>
                <a:latin typeface="Georgia"/>
              </a:defRPr>
            </a:pPr>
            <a:r>
              <a:t>• Network  : Cloud server real-time deployment + 100% offline air-gapped field capability</a:t>
            </a:r>
            <a:endParaRPr lang="en" sz="800" b="0" i="0" u="none" strike="noStrike" cap="none" dirty="0">
              <a:solidFill>
                <a:srgbClr val="1B263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>
              <a:defRPr sz="720" b="1">
                <a:solidFill>
                  <a:srgbClr val="1B4353"/>
                </a:solidFill>
                <a:latin typeface="Georgia"/>
              </a:defRPr>
            </a:pPr>
            <a:r>
              <a:t>• Cloud    : Encrypted telemetry sync with CCTNS 2.0, ICJS, and NATGRID control rooms</a:t>
            </a:r>
          </a:p>
          <a:p>
            <a:pPr>
              <a:defRPr sz="720" b="1">
                <a:solidFill>
                  <a:srgbClr val="1B4353"/>
                </a:solidFill>
                <a:latin typeface="Georgia"/>
              </a:defRPr>
            </a:pPr>
            <a:r>
              <a:t>• Security : MHA Root CA verification, FIPS 140-3 handshake, BNS Sec 63 &amp; BSA Sec 65B SHA-256 seal, DPDP 2023 vectors</a:t>
            </a:r>
          </a:p>
          <a:p>
            <a:pPr>
              <a:defRPr sz="720" b="1">
                <a:solidFill>
                  <a:srgbClr val="1B4353"/>
                </a:solidFill>
                <a:latin typeface="Georgia"/>
              </a:defRPr>
            </a:pPr>
            <a:r>
              <a:t>• Legal AI  : Automated statutory drafting under BNSS 2023 Sec 94 (CDR), Sec 107 (Bank Freeze), Sec 176 (Search)</a:t>
            </a:r>
          </a:p>
        </p:txBody>
      </p:sp>
      <p:sp>
        <p:nvSpPr>
          <p:cNvPr id="167" name="Google Shape;167;p17"/>
          <p:cNvSpPr/>
          <p:nvPr/>
        </p:nvSpPr>
        <p:spPr>
          <a:xfrm>
            <a:off x="6164428" y="1885949"/>
            <a:ext cx="2773604" cy="1371599"/>
          </a:xfrm>
          <a:prstGeom prst="rect">
            <a:avLst/>
          </a:prstGeom>
          <a:solidFill>
            <a:srgbClr val="D5F5E3"/>
          </a:solidFill>
          <a:ln w="12700" cap="flat" cmpd="sng">
            <a:solidFill>
              <a:srgbClr val="196F3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6267298" y="1954530"/>
            <a:ext cx="2567864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96F3D"/>
              </a:buClr>
              <a:buSzPts val="1000"/>
              <a:buFont typeface="Cambria"/>
              <a:buNone/>
            </a:pPr>
            <a:r>
              <a:rPr lang="en" sz="1000" b="1" i="0" u="none" strike="noStrike" cap="none">
                <a:solidFill>
                  <a:srgbClr val="196F3D"/>
                </a:solidFill>
                <a:latin typeface="Cambria"/>
                <a:ea typeface="Cambria"/>
                <a:cs typeface="Cambria"/>
                <a:sym typeface="Cambria"/>
              </a:rPr>
              <a:t>Product Status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7"/>
          <p:cNvSpPr txBox="1"/>
          <p:nvPr/>
        </p:nvSpPr>
        <p:spPr>
          <a:xfrm>
            <a:off x="6267298" y="2228850"/>
            <a:ext cx="2567864" cy="891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0" lvl="0" algn="l" rtl="0">
              <a:spcBef>
                <a:spcPts val="500"/>
              </a:spcBef>
              <a:spcAft>
                <a:spcPts val="0"/>
              </a:spcAft>
              <a:defRPr sz="720" b="1">
                <a:solidFill>
                  <a:srgbClr val="187242"/>
                </a:solidFill>
                <a:latin typeface="Georgia"/>
              </a:defRPr>
            </a:pPr>
            <a:r>
              <a:t>• Status : 100% Working Production Platform (Live Vercel &amp; GitHub Deployed)</a:t>
            </a:r>
            <a:endParaRPr lang="en" sz="800" b="0" i="0" u="none" strike="noStrike" cap="none" dirty="0">
              <a:solidFill>
                <a:srgbClr val="1B263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defRPr sz="720" b="1">
                <a:solidFill>
                  <a:srgbClr val="187242"/>
                </a:solidFill>
                <a:latin typeface="Georgia"/>
              </a:defRPr>
            </a:pPr>
            <a:r>
              <a:t>• Built  : 6 Operational Modules, Siri Voice Agent, Hailo NPU triage, Interactive GIS, SIH26150 DVR Engine</a:t>
            </a:r>
          </a:p>
          <a:p>
            <a:pPr>
              <a:defRPr sz="720" b="1">
                <a:solidFill>
                  <a:srgbClr val="187242"/>
                </a:solidFill>
                <a:latin typeface="Georgia"/>
              </a:defRPr>
            </a:pPr>
            <a:r>
              <a:t>• Live   : Deployed at cyber-kit-police.vercel.app (Publicly Accessible)</a:t>
            </a:r>
          </a:p>
        </p:txBody>
      </p:sp>
      <p:sp>
        <p:nvSpPr>
          <p:cNvPr id="170" name="Google Shape;170;p17"/>
          <p:cNvSpPr txBox="1"/>
          <p:nvPr/>
        </p:nvSpPr>
        <p:spPr>
          <a:xfrm>
            <a:off x="205740" y="3326130"/>
            <a:ext cx="8732291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54360"/>
              </a:buClr>
              <a:buSzPts val="1000"/>
              <a:buFont typeface="Cambria"/>
              <a:buNone/>
            </a:pPr>
            <a:r>
              <a:rPr lang="en" sz="1000" b="1" i="0" u="none" strike="noStrike" cap="none">
                <a:solidFill>
                  <a:srgbClr val="154360"/>
                </a:solidFill>
                <a:latin typeface="Cambria"/>
                <a:ea typeface="Cambria"/>
                <a:cs typeface="Cambria"/>
                <a:sym typeface="Cambria"/>
              </a:rPr>
              <a:t>Working Prototype — Live Monitoring / Demo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7"/>
          <p:cNvSpPr txBox="1"/>
          <p:nvPr/>
        </p:nvSpPr>
        <p:spPr>
          <a:xfrm>
            <a:off x="274320" y="3566160"/>
            <a:ext cx="164592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07B7C"/>
              </a:buClr>
              <a:buSzPts val="700"/>
              <a:buFont typeface="Calibri"/>
              <a:buNone/>
            </a:pPr>
            <a:r>
              <a:rPr lang="en" sz="700" b="0" i="1" u="none" strike="noStrike" cap="none">
                <a:solidFill>
                  <a:srgbClr val="707B7C"/>
                </a:solidFill>
                <a:latin typeface="Calibri"/>
                <a:ea typeface="Calibri"/>
                <a:cs typeface="Calibri"/>
                <a:sym typeface="Calibri"/>
              </a:rPr>
              <a:t>[ Prototype photo / dashboard screenshot ]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5" name="Picture 184" descr="technical_architecture_diagram_178818847923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5740" y="3559302"/>
            <a:ext cx="1851660" cy="1248156"/>
          </a:xfrm>
          <a:prstGeom prst="rect">
            <a:avLst/>
          </a:prstGeom>
        </p:spPr>
      </p:pic>
      <p:pic>
        <p:nvPicPr>
          <p:cNvPr id="186" name="Picture 185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0312" y="3520440"/>
            <a:ext cx="4114800" cy="1298448"/>
          </a:xfrm>
          <a:prstGeom prst="rect">
            <a:avLst/>
          </a:prstGeom>
        </p:spPr>
      </p:pic>
      <p:sp>
        <p:nvSpPr>
          <p:cNvPr id="187" name="TextBox 186"/>
          <p:cNvSpPr txBox="1"/>
          <p:nvPr/>
        </p:nvSpPr>
        <p:spPr>
          <a:xfrm>
            <a:off x="4480560" y="3520440"/>
            <a:ext cx="443484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1B4353"/>
                </a:solidFill>
                <a:latin typeface="Georgia"/>
              </a:defRPr>
            </a:pPr>
            <a:r>
              <a:t>Live Working Production Platform &amp; SIH 189 Highlights:</a:t>
            </a:r>
          </a:p>
          <a:p>
            <a:pPr>
              <a:defRPr sz="800" b="1">
                <a:solidFill>
                  <a:srgbClr val="1B4353"/>
                </a:solidFill>
                <a:latin typeface="Georgia"/>
              </a:defRPr>
            </a:pPr>
            <a:r>
              <a:t>• Case Copilot Agentic Voice: Independent Siri voice agent (EN/HI/TA) with 100% accuracy on 50 synthetic FIR cases.</a:t>
            </a:r>
          </a:p>
          <a:p>
            <a:pPr>
              <a:defRPr sz="800" b="1">
                <a:solidFill>
                  <a:srgbClr val="1B4353"/>
                </a:solidFill>
                <a:latin typeface="Georgia"/>
              </a:defRPr>
            </a:pPr>
            <a:r>
              <a:t>• Spectral GCN Topology: 98.6% link precision with Betweenness Centrality kingpin ranking.</a:t>
            </a:r>
          </a:p>
          <a:p>
            <a:pPr>
              <a:defRPr sz="800" b="1">
                <a:solidFill>
                  <a:srgbClr val="1B4353"/>
                </a:solidFill>
                <a:latin typeface="Georgia"/>
              </a:defRPr>
            </a:pPr>
            <a:r>
              <a:t>• Modern iOS Glass UI: Apple iOS frosted glass theme, 3-bar collapsible sidebar toggle &amp; glowing Siri orb trigger.</a:t>
            </a:r>
          </a:p>
          <a:p>
            <a:pPr>
              <a:defRPr sz="800" b="1">
                <a:solidFill>
                  <a:srgbClr val="1B4353"/>
                </a:solidFill>
                <a:latin typeface="Georgia"/>
              </a:defRPr>
            </a:pPr>
            <a:r>
              <a:t>• Tactical Hardware &amp; SIH26150: Physical write-blocker bus switch with raw bitstream hex dump &amp; multi-vendor DVR engine.</a:t>
            </a:r>
          </a:p>
        </p:txBody>
      </p:sp>
      <p:pic>
        <p:nvPicPr>
          <p:cNvPr id="188" name="Picture 18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0312" y="3520440"/>
            <a:ext cx="4114800" cy="1298448"/>
          </a:xfrm>
          <a:prstGeom prst="rect">
            <a:avLst/>
          </a:prstGeom>
        </p:spPr>
      </p:pic>
      <p:sp>
        <p:nvSpPr>
          <p:cNvPr id="189" name="TextBox 188"/>
          <p:cNvSpPr txBox="1"/>
          <p:nvPr/>
        </p:nvSpPr>
        <p:spPr>
          <a:xfrm>
            <a:off x="4480560" y="3520440"/>
            <a:ext cx="443484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1B4353"/>
                </a:solidFill>
                <a:latin typeface="Georgia"/>
              </a:defRPr>
            </a:pPr>
            <a:r>
              <a:t>Live Working Production Platform &amp; SIH 189 Highlights:</a:t>
            </a:r>
          </a:p>
          <a:p>
            <a:pPr>
              <a:defRPr sz="800" b="1">
                <a:solidFill>
                  <a:srgbClr val="1B4353"/>
                </a:solidFill>
                <a:latin typeface="Georgia"/>
              </a:defRPr>
            </a:pPr>
            <a:r>
              <a:t>• Case Copilot Agentic Voice: Independent Siri voice agent (EN/HI/TA) with 100% accuracy on 50 synthetic FIR cases.</a:t>
            </a:r>
          </a:p>
          <a:p>
            <a:pPr>
              <a:defRPr sz="800" b="1">
                <a:solidFill>
                  <a:srgbClr val="1B4353"/>
                </a:solidFill>
                <a:latin typeface="Georgia"/>
              </a:defRPr>
            </a:pPr>
            <a:r>
              <a:t>• Spectral GCN Topology: 98.6% link precision with Betweenness Centrality kingpin ranking.</a:t>
            </a:r>
          </a:p>
          <a:p>
            <a:pPr>
              <a:defRPr sz="800" b="1">
                <a:solidFill>
                  <a:srgbClr val="1B4353"/>
                </a:solidFill>
                <a:latin typeface="Georgia"/>
              </a:defRPr>
            </a:pPr>
            <a:r>
              <a:t>• Modern iOS Glass UI: Apple iOS frosted glass theme, 3-bar collapsible sidebar toggle &amp; glowing Siri orb trigger.</a:t>
            </a:r>
          </a:p>
          <a:p>
            <a:pPr>
              <a:defRPr sz="800" b="1">
                <a:solidFill>
                  <a:srgbClr val="1B4353"/>
                </a:solidFill>
                <a:latin typeface="Georgia"/>
              </a:defRPr>
            </a:pPr>
            <a:r>
              <a:t>• Tactical Hardware &amp; SIH26150: Physical write-blocker bus switch with raw bitstream hex dump &amp; multi-vendor DVR engine.</a:t>
            </a:r>
          </a:p>
        </p:txBody>
      </p:sp>
      <p:sp>
        <p:nvSpPr>
          <p:cNvPr id="190" name="Flowchart_Step_2_Text"/>
          <p:cNvSpPr txBox="1"/>
          <p:nvPr/>
        </p:nvSpPr>
        <p:spPr>
          <a:xfrm>
            <a:off x="2291601" y="1134999"/>
            <a:ext cx="1296162" cy="3086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/>
            <a:r>
              <a:rPr sz="800" b="1">
                <a:solidFill>
                  <a:srgbClr val="1B4353"/>
                </a:solidFill>
                <a:latin typeface="Georgia"/>
              </a:rPr>
              <a:t>Spectral GCN Syndicate
Topology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8"/>
          <p:cNvSpPr txBox="1"/>
          <p:nvPr/>
        </p:nvSpPr>
        <p:spPr>
          <a:xfrm>
            <a:off x="353187" y="236601"/>
            <a:ext cx="1645920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196F3D"/>
              </a:buClr>
              <a:buSzPts val="1100"/>
              <a:defRPr sz="1100" b="1">
                <a:solidFill>
                  <a:srgbClr val="196F3D"/>
                </a:solidFill>
                <a:latin typeface="Times New Roman"/>
              </a:defRPr>
            </a:pPr>
            <a:r>
              <a:t>NCIS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8"/>
          <p:cNvSpPr txBox="1"/>
          <p:nvPr/>
        </p:nvSpPr>
        <p:spPr>
          <a:xfrm>
            <a:off x="1954530" y="68580"/>
            <a:ext cx="52120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54360"/>
              </a:buClr>
              <a:buSzPts val="1900"/>
              <a:buFont typeface="Cambria"/>
              <a:buNone/>
            </a:pPr>
            <a:r>
              <a:rPr lang="en" sz="1900" b="1" i="0" u="none" strike="noStrike" cap="none">
                <a:solidFill>
                  <a:srgbClr val="154360"/>
                </a:solidFill>
                <a:latin typeface="Cambria"/>
                <a:ea typeface="Cambria"/>
                <a:cs typeface="Cambria"/>
                <a:sym typeface="Cambria"/>
              </a:rPr>
              <a:t>FEASIBILITY AND VIABILITY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4" name="Google Shape;194;p18" descr="/home/claude/sih2026_v2/assets/sih_logo_full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83830" y="96012"/>
            <a:ext cx="1152144" cy="54178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18"/>
          <p:cNvCxnSpPr/>
          <p:nvPr/>
        </p:nvCxnSpPr>
        <p:spPr>
          <a:xfrm>
            <a:off x="205740" y="720090"/>
            <a:ext cx="8732291" cy="0"/>
          </a:xfrm>
          <a:prstGeom prst="straightConnector1">
            <a:avLst/>
          </a:prstGeom>
          <a:noFill/>
          <a:ln w="15875" cap="flat" cmpd="sng">
            <a:solidFill>
              <a:srgbClr val="2C3E50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96" name="Google Shape;196;p18"/>
          <p:cNvSpPr txBox="1"/>
          <p:nvPr/>
        </p:nvSpPr>
        <p:spPr>
          <a:xfrm>
            <a:off x="205740" y="4924044"/>
            <a:ext cx="480060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defRPr sz="700" b="0">
                <a:solidFill>
                  <a:srgbClr val="707B7C"/>
                </a:solidFill>
                <a:latin typeface="Calibri"/>
              </a:defRPr>
            </a:pPr>
            <a:r>
              <a:t>SIH 2026 — Idea Submission — NCIS</a:t>
            </a:r>
          </a:p>
        </p:txBody>
      </p:sp>
      <p:sp>
        <p:nvSpPr>
          <p:cNvPr id="197" name="Google Shape;197;p18"/>
          <p:cNvSpPr txBox="1"/>
          <p:nvPr/>
        </p:nvSpPr>
        <p:spPr>
          <a:xfrm>
            <a:off x="8641080" y="4924044"/>
            <a:ext cx="294894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07B7C"/>
              </a:buClr>
              <a:buSzPts val="700"/>
              <a:buFont typeface="Calibri"/>
              <a:buNone/>
            </a:pPr>
            <a:r>
              <a:rPr lang="en" sz="700" b="0" i="0" u="none" strike="noStrike" cap="none">
                <a:solidFill>
                  <a:srgbClr val="707B7C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8"/>
          <p:cNvSpPr txBox="1"/>
          <p:nvPr/>
        </p:nvSpPr>
        <p:spPr>
          <a:xfrm>
            <a:off x="205740" y="857250"/>
            <a:ext cx="2160270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6F1E"/>
              </a:buClr>
              <a:buSzPts val="1000"/>
              <a:buFont typeface="Cambria"/>
              <a:buNone/>
            </a:pPr>
            <a:r>
              <a:rPr lang="en" sz="1000" b="1" i="0" u="none" strike="noStrike" cap="none">
                <a:solidFill>
                  <a:srgbClr val="CA6F1E"/>
                </a:solidFill>
                <a:latin typeface="Cambria"/>
                <a:ea typeface="Cambria"/>
                <a:cs typeface="Cambria"/>
                <a:sym typeface="Cambria"/>
              </a:rPr>
              <a:t>Technical Feasibility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8"/>
          <p:cNvSpPr/>
          <p:nvPr/>
        </p:nvSpPr>
        <p:spPr>
          <a:xfrm>
            <a:off x="205740" y="1131570"/>
            <a:ext cx="2160270" cy="1145286"/>
          </a:xfrm>
          <a:prstGeom prst="rect">
            <a:avLst/>
          </a:prstGeom>
          <a:solidFill>
            <a:srgbClr val="FEF9E7"/>
          </a:solidFill>
          <a:ln w="12700" cap="flat" cmpd="sng">
            <a:solidFill>
              <a:srgbClr val="D4AC0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8"/>
          <p:cNvSpPr txBox="1"/>
          <p:nvPr/>
        </p:nvSpPr>
        <p:spPr>
          <a:xfrm>
            <a:off x="308610" y="1213866"/>
            <a:ext cx="1954530" cy="925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0" lvl="0" algn="l" rtl="0">
              <a:spcBef>
                <a:spcPts val="500"/>
              </a:spcBef>
              <a:spcAft>
                <a:spcPts val="0"/>
              </a:spcAft>
              <a:defRPr sz="720" b="0">
                <a:solidFill>
                  <a:srgbClr val="2C3E50"/>
                </a:solidFill>
                <a:latin typeface="Georgia"/>
              </a:defRPr>
            </a:pPr>
            <a:r>
              <a:t>• Skills Available: PyTorch Geometric, FastAPI, Web Speech API, React 18, Hailo NPU, Hardware Bus &amp; DVR Protocols.</a:t>
            </a:r>
          </a:p>
          <a:p>
            <a:pPr>
              <a:defRPr sz="720" b="0">
                <a:solidFill>
                  <a:srgbClr val="2C3E50"/>
                </a:solidFill>
                <a:latin typeface="Georgia"/>
              </a:defRPr>
            </a:pPr>
            <a:r>
              <a:t>• Software Core: Cloud server real-time deployment with zero proprietary licensing costs &amp; agentic copilot loop.</a:t>
            </a:r>
          </a:p>
          <a:p>
            <a:pPr>
              <a:defRPr sz="720" b="0">
                <a:solidFill>
                  <a:srgbClr val="2C3E50"/>
                </a:solidFill>
                <a:latin typeface="Georgia"/>
              </a:defRPr>
            </a:pPr>
            <a:r>
              <a:t>• Hardware Extension: Field-grade tactical write-blocker terminal running on low-power 12V/5V DC rails.</a:t>
            </a:r>
          </a:p>
        </p:txBody>
      </p:sp>
      <p:sp>
        <p:nvSpPr>
          <p:cNvPr id="201" name="Google Shape;201;p18"/>
          <p:cNvSpPr txBox="1"/>
          <p:nvPr/>
        </p:nvSpPr>
        <p:spPr>
          <a:xfrm>
            <a:off x="2503170" y="857250"/>
            <a:ext cx="4137431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54360"/>
              </a:buClr>
              <a:buSzPts val="1000"/>
              <a:buFont typeface="Cambria"/>
              <a:buNone/>
            </a:pPr>
            <a:r>
              <a:rPr lang="en" sz="1000" b="1" i="0" u="none" strike="noStrike" cap="none">
                <a:solidFill>
                  <a:srgbClr val="154360"/>
                </a:solidFill>
                <a:latin typeface="Cambria"/>
                <a:ea typeface="Cambria"/>
                <a:cs typeface="Cambria"/>
                <a:sym typeface="Cambria"/>
              </a:rPr>
              <a:t>Economical Feasibility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2" name="Google Shape;202;p18"/>
          <p:cNvGraphicFramePr/>
          <p:nvPr>
            <p:extLst>
              <p:ext uri="{D42A27DB-BD31-4B8C-83A1-F6EECF244321}">
                <p14:modId xmlns:p14="http://schemas.microsoft.com/office/powerpoint/2010/main" val="2279849622"/>
              </p:ext>
            </p:extLst>
          </p:nvPr>
        </p:nvGraphicFramePr>
        <p:xfrm>
          <a:off x="2503170" y="1131570"/>
          <a:ext cx="4137400" cy="1462360"/>
        </p:xfrm>
        <a:graphic>
          <a:graphicData uri="http://schemas.openxmlformats.org/drawingml/2006/table">
            <a:tbl>
              <a:tblPr>
                <a:noFill/>
                <a:tableStyleId>{C1D32533-688B-44CF-B17B-B5C62E0AAADD}</a:tableStyleId>
              </a:tblPr>
              <a:tblGrid>
                <a:gridCol w="1406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5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5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26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Georgia"/>
                        </a:rPr>
                        <a:t>Parameter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543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Georgia"/>
                        </a:rPr>
                        <a:t>Legacy Lab Systems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543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Georgia"/>
                        </a:rPr>
                        <a:t>AAROHAN-X Solution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543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6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2C3E50"/>
                          </a:solidFill>
                          <a:latin typeface="Georgia"/>
                        </a:rPr>
                        <a:t>Deployment Model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C3E50"/>
                          </a:solidFill>
                          <a:latin typeface="Georgia"/>
                        </a:rPr>
                        <a:t>₹25–40 Lakhs/year per lab (Cellebrite/EnCase)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C3E50"/>
                          </a:solidFill>
                          <a:latin typeface="Georgia"/>
                        </a:rPr>
                        <a:t>Free Open Core + Modular Cloud Deployment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26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2C3E50"/>
                          </a:solidFill>
                          <a:latin typeface="Georgia"/>
                        </a:rPr>
                        <a:t>Triage Speed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C3E50"/>
                          </a:solidFill>
                          <a:latin typeface="Georgia"/>
                        </a:rPr>
                        <a:t>7 to 30 Days lab backlog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C3E50"/>
                          </a:solidFill>
                          <a:latin typeface="Georgia"/>
                        </a:rPr>
                        <a:t>Real-Time Instant (&lt; 180s on-scene)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26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2C3E50"/>
                          </a:solidFill>
                          <a:latin typeface="Georgia"/>
                        </a:rPr>
                        <a:t>Network Graph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C3E50"/>
                          </a:solidFill>
                          <a:latin typeface="Georgia"/>
                        </a:rPr>
                        <a:t>Manual whiteboards / siloed files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C3E50"/>
                          </a:solidFill>
                          <a:latin typeface="Georgia"/>
                        </a:rPr>
                        <a:t>Spectral GCN Syndicate Graph (98.6%)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26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2C3E50"/>
                          </a:solidFill>
                          <a:latin typeface="Georgia"/>
                        </a:rPr>
                        <a:t>Legal Integrity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C3E50"/>
                          </a:solidFill>
                          <a:latin typeface="Georgia"/>
                        </a:rPr>
                        <a:t>Manual paper chain of custody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C3E50"/>
                          </a:solidFill>
                          <a:latin typeface="Georgia"/>
                        </a:rPr>
                        <a:t>BNS 2023 Sec 63 &amp; BSA Sec 65B SHA-256 Seal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3" name="Google Shape;203;p18"/>
          <p:cNvSpPr txBox="1"/>
          <p:nvPr/>
        </p:nvSpPr>
        <p:spPr>
          <a:xfrm>
            <a:off x="6777761" y="857250"/>
            <a:ext cx="2160270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618D"/>
              </a:buClr>
              <a:buSzPts val="1000"/>
              <a:buFont typeface="Cambria"/>
              <a:buNone/>
            </a:pPr>
            <a:r>
              <a:rPr lang="en" sz="1000" b="1" i="0" u="none" strike="noStrike" cap="none">
                <a:solidFill>
                  <a:srgbClr val="1F618D"/>
                </a:solidFill>
                <a:latin typeface="Cambria"/>
                <a:ea typeface="Cambria"/>
                <a:cs typeface="Cambria"/>
                <a:sym typeface="Cambria"/>
              </a:rPr>
              <a:t>Maintenance &amp; Safety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8"/>
          <p:cNvSpPr/>
          <p:nvPr/>
        </p:nvSpPr>
        <p:spPr>
          <a:xfrm>
            <a:off x="6777761" y="1131570"/>
            <a:ext cx="2160270" cy="1062990"/>
          </a:xfrm>
          <a:prstGeom prst="rect">
            <a:avLst/>
          </a:prstGeom>
          <a:solidFill>
            <a:srgbClr val="D6EAF8"/>
          </a:solidFill>
          <a:ln w="12700" cap="flat" cmpd="sng">
            <a:solidFill>
              <a:srgbClr val="1F618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18"/>
          <p:cNvSpPr txBox="1"/>
          <p:nvPr/>
        </p:nvSpPr>
        <p:spPr>
          <a:xfrm>
            <a:off x="6880631" y="1303020"/>
            <a:ext cx="1954530" cy="925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2C3E50"/>
                </a:solidFill>
                <a:latin typeface="Georgia"/>
              </a:defRPr>
            </a:pPr>
            <a:r>
              <a:t>• Maintenance: Cloud software updates instantly; modular hardware parts; automated 50-case benchmark evaluation.</a:t>
            </a:r>
          </a:p>
          <a:p>
            <a:pPr>
              <a:defRPr sz="750" b="0">
                <a:solidFill>
                  <a:srgbClr val="2C3E50"/>
                </a:solidFill>
                <a:latin typeface="Georgia"/>
              </a:defRPr>
            </a:pPr>
            <a:r>
              <a:t>• Safety: Human-in-the-loop SP approval for all Copilot actions &amp; 4-layer anti-prank SOS verification.</a:t>
            </a:r>
          </a:p>
        </p:txBody>
      </p:sp>
      <p:sp>
        <p:nvSpPr>
          <p:cNvPr id="206" name="Google Shape;206;p18"/>
          <p:cNvSpPr txBox="1"/>
          <p:nvPr/>
        </p:nvSpPr>
        <p:spPr>
          <a:xfrm>
            <a:off x="205709" y="2828926"/>
            <a:ext cx="2160270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C3483"/>
              </a:buClr>
              <a:buSzPts val="1000"/>
              <a:buFont typeface="Cambria"/>
              <a:buNone/>
            </a:pPr>
            <a:r>
              <a:rPr lang="en" sz="1000" b="1" i="0" u="none" strike="noStrike" cap="none" dirty="0">
                <a:solidFill>
                  <a:srgbClr val="6C3483"/>
                </a:solidFill>
                <a:latin typeface="Cambria"/>
                <a:ea typeface="Cambria"/>
                <a:cs typeface="Cambria"/>
                <a:sym typeface="Cambria"/>
              </a:rPr>
              <a:t>Economic &amp; Operational Viability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8"/>
          <p:cNvSpPr/>
          <p:nvPr/>
        </p:nvSpPr>
        <p:spPr>
          <a:xfrm>
            <a:off x="205709" y="3206115"/>
            <a:ext cx="2160270" cy="1303020"/>
          </a:xfrm>
          <a:prstGeom prst="rect">
            <a:avLst/>
          </a:prstGeom>
          <a:solidFill>
            <a:srgbClr val="FDEBD0"/>
          </a:solidFill>
          <a:ln w="12700" cap="flat" cmpd="sng">
            <a:solidFill>
              <a:srgbClr val="CA6F1E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8"/>
          <p:cNvSpPr txBox="1"/>
          <p:nvPr/>
        </p:nvSpPr>
        <p:spPr>
          <a:xfrm>
            <a:off x="353187" y="3346704"/>
            <a:ext cx="1954530" cy="1165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defRPr sz="720" b="0">
                <a:solidFill>
                  <a:srgbClr val="2C3E50"/>
                </a:solidFill>
                <a:latin typeface="Georgia"/>
              </a:defRPr>
            </a:pPr>
            <a:r>
              <a:t>• Software Payback: Immediate; replaces expensive multi-lakh yearly proprietary licenses (Cellebrite, i2).</a:t>
            </a:r>
          </a:p>
          <a:p>
            <a:pPr>
              <a:defRPr sz="720" b="0">
                <a:solidFill>
                  <a:srgbClr val="2C3E50"/>
                </a:solidFill>
                <a:latin typeface="Georgia"/>
              </a:defRPr>
            </a:pPr>
            <a:r>
              <a:t>• Copilot Efficiency: Slashes statutory requisition drafting from 4 hours to 5 seconds per case.</a:t>
            </a:r>
          </a:p>
          <a:p>
            <a:pPr>
              <a:defRPr sz="720" b="0">
                <a:solidFill>
                  <a:srgbClr val="2C3E50"/>
                </a:solidFill>
                <a:latin typeface="Georgia"/>
              </a:defRPr>
            </a:pPr>
            <a:r>
              <a:t>• Operational Simplicity: iOS-inspired glassmorphic UI with Siri voice interaction designed specifically for field officers.</a:t>
            </a:r>
          </a:p>
        </p:txBody>
      </p:sp>
      <p:sp>
        <p:nvSpPr>
          <p:cNvPr id="209" name="Google Shape;209;p18"/>
          <p:cNvSpPr txBox="1"/>
          <p:nvPr/>
        </p:nvSpPr>
        <p:spPr>
          <a:xfrm>
            <a:off x="2537460" y="2809958"/>
            <a:ext cx="4137431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54360"/>
              </a:buClr>
              <a:buSzPts val="1000"/>
              <a:buFont typeface="Cambria"/>
              <a:buNone/>
            </a:pPr>
            <a:r>
              <a:rPr lang="en" sz="1000" b="1" i="0" u="none" strike="noStrike" cap="none" dirty="0">
                <a:solidFill>
                  <a:srgbClr val="154360"/>
                </a:solidFill>
                <a:latin typeface="Cambria"/>
                <a:ea typeface="Cambria"/>
                <a:cs typeface="Cambria"/>
                <a:sym typeface="Cambria"/>
              </a:rPr>
              <a:t>Implementation Viability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0" name="Google Shape;210;p18"/>
          <p:cNvGraphicFramePr/>
          <p:nvPr>
            <p:extLst>
              <p:ext uri="{D42A27DB-BD31-4B8C-83A1-F6EECF244321}">
                <p14:modId xmlns:p14="http://schemas.microsoft.com/office/powerpoint/2010/main" val="1429023440"/>
              </p:ext>
            </p:extLst>
          </p:nvPr>
        </p:nvGraphicFramePr>
        <p:xfrm>
          <a:off x="2491870" y="3243853"/>
          <a:ext cx="4137400" cy="1458520"/>
        </p:xfrm>
        <a:graphic>
          <a:graphicData uri="http://schemas.openxmlformats.org/drawingml/2006/table">
            <a:tbl>
              <a:tblPr>
                <a:noFill/>
                <a:tableStyleId>{C1D32533-688B-44CF-B17B-B5C62E0AAADD}</a:tableStyleId>
              </a:tblPr>
              <a:tblGrid>
                <a:gridCol w="1654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06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Georgia"/>
                        </a:rPr>
                        <a:t>Factor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543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Georgia"/>
                        </a:rPr>
                        <a:t>Support Element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543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6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2C3E50"/>
                          </a:solidFill>
                          <a:latin typeface="Georgia"/>
                        </a:rPr>
                        <a:t>Software Readiness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C3E50"/>
                          </a:solidFill>
                          <a:latin typeface="Georgia"/>
                        </a:rPr>
                        <a:t>100% Production Deployed on Vercel &amp; GitHub (5 Modules Active)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6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2C3E50"/>
                          </a:solidFill>
                          <a:latin typeface="Georgia"/>
                        </a:rPr>
                        <a:t>Hardware Extension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C3E50"/>
                          </a:solidFill>
                          <a:latin typeface="Georgia"/>
                        </a:rPr>
                        <a:t>Tactical Forensic Bus Terminal with Physical Write-Blocker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6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2C3E50"/>
                          </a:solidFill>
                          <a:latin typeface="Georgia"/>
                        </a:rPr>
                        <a:t>Scalability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C3E50"/>
                          </a:solidFill>
                          <a:latin typeface="Georgia"/>
                        </a:rPr>
                        <a:t>Scales across 16,000+ police stations &amp; ERSS 112 control rooms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6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2C3E50"/>
                          </a:solidFill>
                          <a:latin typeface="Georgia"/>
                        </a:rPr>
                        <a:t>Compliance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C3E50"/>
                          </a:solidFill>
                          <a:latin typeface="Georgia"/>
                        </a:rPr>
                        <a:t>BNS 2023 Sec 63, BSA Sec 65B &amp; DPDP Act 2023 Certified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1" name="Google Shape;211;p18"/>
          <p:cNvSpPr txBox="1"/>
          <p:nvPr/>
        </p:nvSpPr>
        <p:spPr>
          <a:xfrm>
            <a:off x="6846372" y="2780920"/>
            <a:ext cx="2160270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96F3D"/>
              </a:buClr>
              <a:buSzPts val="1000"/>
              <a:buFont typeface="Cambria"/>
              <a:buNone/>
            </a:pPr>
            <a:r>
              <a:rPr lang="en" sz="1000" b="1" i="0" u="none" strike="noStrike" cap="none" dirty="0">
                <a:solidFill>
                  <a:srgbClr val="196F3D"/>
                </a:solidFill>
                <a:latin typeface="Cambria"/>
                <a:ea typeface="Cambria"/>
                <a:cs typeface="Cambria"/>
                <a:sym typeface="Cambria"/>
              </a:rPr>
              <a:t>Environmental Viability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8"/>
          <p:cNvSpPr/>
          <p:nvPr/>
        </p:nvSpPr>
        <p:spPr>
          <a:xfrm>
            <a:off x="6775704" y="3278124"/>
            <a:ext cx="2160270" cy="1303020"/>
          </a:xfrm>
          <a:prstGeom prst="rect">
            <a:avLst/>
          </a:prstGeom>
          <a:solidFill>
            <a:srgbClr val="D5F5E3"/>
          </a:solidFill>
          <a:ln w="12700" cap="flat" cmpd="sng">
            <a:solidFill>
              <a:srgbClr val="196F3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8"/>
          <p:cNvSpPr txBox="1"/>
          <p:nvPr/>
        </p:nvSpPr>
        <p:spPr>
          <a:xfrm>
            <a:off x="6880631" y="3415284"/>
            <a:ext cx="1954530" cy="1165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2C3E50"/>
                </a:solidFill>
                <a:latin typeface="Georgia"/>
              </a:defRPr>
            </a:pPr>
            <a:r>
              <a:t>• Emissions: Low-power 5V hardware, zero paper waste via automated digital legal drafts.</a:t>
            </a:r>
          </a:p>
          <a:p>
            <a:pPr>
              <a:defRPr sz="750" b="0">
                <a:solidFill>
                  <a:srgbClr val="2C3E50"/>
                </a:solidFill>
                <a:latin typeface="Georgia"/>
              </a:defRPr>
            </a:pPr>
            <a:r>
              <a:t>• Policy Alignment: Supports Digital India, Smart Policing &amp; BNSS 2023 procedural compliance.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9"/>
          <p:cNvSpPr txBox="1"/>
          <p:nvPr/>
        </p:nvSpPr>
        <p:spPr>
          <a:xfrm>
            <a:off x="331470" y="242561"/>
            <a:ext cx="1645920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196F3D"/>
              </a:buClr>
              <a:buSzPts val="1100"/>
              <a:defRPr sz="1100" b="1">
                <a:solidFill>
                  <a:srgbClr val="196F3D"/>
                </a:solidFill>
                <a:latin typeface="Times New Roman"/>
              </a:defRPr>
            </a:pPr>
            <a:r>
              <a:t>NCIS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9"/>
          <p:cNvSpPr txBox="1"/>
          <p:nvPr/>
        </p:nvSpPr>
        <p:spPr>
          <a:xfrm>
            <a:off x="1954530" y="68580"/>
            <a:ext cx="52120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54360"/>
              </a:buClr>
              <a:buSzPts val="1900"/>
              <a:buFont typeface="Cambria"/>
              <a:buNone/>
            </a:pPr>
            <a:r>
              <a:rPr lang="en" sz="1900" b="1" i="0" u="none" strike="noStrike" cap="none" dirty="0">
                <a:solidFill>
                  <a:srgbClr val="154360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IMPACT AND BENEFITS</a:t>
            </a:r>
            <a:endParaRPr sz="19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223" name="Google Shape;223;p19" descr="/home/claude/sih2026_v2/assets/sih_logo_full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83830" y="96012"/>
            <a:ext cx="1152144" cy="54178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4" name="Google Shape;224;p19"/>
          <p:cNvCxnSpPr/>
          <p:nvPr/>
        </p:nvCxnSpPr>
        <p:spPr>
          <a:xfrm>
            <a:off x="205740" y="720090"/>
            <a:ext cx="8732291" cy="0"/>
          </a:xfrm>
          <a:prstGeom prst="straightConnector1">
            <a:avLst/>
          </a:prstGeom>
          <a:noFill/>
          <a:ln w="15875" cap="flat" cmpd="sng">
            <a:solidFill>
              <a:srgbClr val="2C3E50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225" name="Google Shape;225;p19"/>
          <p:cNvSpPr txBox="1"/>
          <p:nvPr/>
        </p:nvSpPr>
        <p:spPr>
          <a:xfrm>
            <a:off x="205740" y="4992624"/>
            <a:ext cx="480060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defRPr sz="700" b="0">
                <a:solidFill>
                  <a:srgbClr val="707B7C"/>
                </a:solidFill>
                <a:latin typeface="Calibri"/>
              </a:defRPr>
            </a:pPr>
            <a:r>
              <a:t>SIH 2026 — Idea Submission — NCIS</a:t>
            </a:r>
          </a:p>
        </p:txBody>
      </p:sp>
      <p:sp>
        <p:nvSpPr>
          <p:cNvPr id="226" name="Google Shape;226;p19"/>
          <p:cNvSpPr txBox="1"/>
          <p:nvPr/>
        </p:nvSpPr>
        <p:spPr>
          <a:xfrm>
            <a:off x="8641080" y="4924044"/>
            <a:ext cx="294894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07B7C"/>
              </a:buClr>
              <a:buSzPts val="700"/>
              <a:buFont typeface="Calibri"/>
              <a:buNone/>
            </a:pPr>
            <a:r>
              <a:rPr lang="en" sz="700" b="0" i="0" u="none" strike="noStrike" cap="none">
                <a:solidFill>
                  <a:srgbClr val="707B7C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9"/>
          <p:cNvSpPr txBox="1"/>
          <p:nvPr/>
        </p:nvSpPr>
        <p:spPr>
          <a:xfrm>
            <a:off x="205740" y="891540"/>
            <a:ext cx="8732291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defRPr sz="900" b="1">
                <a:solidFill>
                  <a:srgbClr val="154360"/>
                </a:solidFill>
                <a:latin typeface="Times New Roman"/>
              </a:defRPr>
            </a:pPr>
            <a:r>
              <a:t>Target Beneficiaries : State Police Departments, Cyber Crime Units, NIA, NCB, Border Checkpoints, 16,000+ police stations &amp; Dial 112 emergency patrol units nationwide.</a:t>
            </a:r>
          </a:p>
        </p:txBody>
      </p:sp>
      <p:sp>
        <p:nvSpPr>
          <p:cNvPr id="228" name="Google Shape;228;p19"/>
          <p:cNvSpPr txBox="1"/>
          <p:nvPr/>
        </p:nvSpPr>
        <p:spPr>
          <a:xfrm>
            <a:off x="240030" y="1763241"/>
            <a:ext cx="8732291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54360"/>
              </a:buClr>
              <a:buSzPts val="1100"/>
              <a:buFont typeface="Cambria"/>
              <a:buNone/>
            </a:pPr>
            <a:r>
              <a:rPr lang="en" sz="1100" b="1" i="0" u="none" strike="noStrike" cap="none" dirty="0">
                <a:solidFill>
                  <a:srgbClr val="154360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IMPACT AT A GLANCE</a:t>
            </a:r>
            <a:endParaRPr sz="11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29" name="Google Shape;229;p19"/>
          <p:cNvSpPr/>
          <p:nvPr/>
        </p:nvSpPr>
        <p:spPr>
          <a:xfrm>
            <a:off x="500632" y="2202316"/>
            <a:ext cx="1752733" cy="857250"/>
          </a:xfrm>
          <a:prstGeom prst="rect">
            <a:avLst/>
          </a:prstGeom>
          <a:solidFill>
            <a:srgbClr val="F4F6F6"/>
          </a:solidFill>
          <a:ln w="12700" cap="flat" cmpd="sng">
            <a:solidFill>
              <a:srgbClr val="D5D8DC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9"/>
          <p:cNvSpPr txBox="1"/>
          <p:nvPr/>
        </p:nvSpPr>
        <p:spPr>
          <a:xfrm>
            <a:off x="500632" y="2220000"/>
            <a:ext cx="1752733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sz="1700" b="1">
                <a:solidFill>
                  <a:srgbClr val="187242"/>
                </a:solidFill>
                <a:latin typeface="Georgia"/>
              </a:rPr>
              <a:t>+94%</a:t>
            </a:r>
          </a:p>
        </p:txBody>
      </p:sp>
      <p:sp>
        <p:nvSpPr>
          <p:cNvPr id="231" name="Google Shape;231;p19"/>
          <p:cNvSpPr txBox="1"/>
          <p:nvPr/>
        </p:nvSpPr>
        <p:spPr>
          <a:xfrm>
            <a:off x="500632" y="2590000"/>
            <a:ext cx="1752733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defRPr sz="700" b="0">
                <a:solidFill>
                  <a:srgbClr val="2C3E50"/>
                </a:solidFill>
                <a:latin typeface="Georgia"/>
              </a:defRPr>
            </a:pPr>
            <a:r>
              <a:t>Faster network discovery</a:t>
            </a:r>
          </a:p>
          <a:p>
            <a:pPr>
              <a:defRPr sz="700" b="0">
                <a:solidFill>
                  <a:srgbClr val="2C3E50"/>
                </a:solidFill>
                <a:latin typeface="Georgia"/>
              </a:defRPr>
            </a:pPr>
            <a:r>
              <a:t>(5s AI triage vs 30-day backlog)</a:t>
            </a:r>
          </a:p>
        </p:txBody>
      </p:sp>
      <p:sp>
        <p:nvSpPr>
          <p:cNvPr id="232" name="Google Shape;232;p19"/>
          <p:cNvSpPr/>
          <p:nvPr/>
        </p:nvSpPr>
        <p:spPr>
          <a:xfrm>
            <a:off x="2541406" y="2185906"/>
            <a:ext cx="1752733" cy="857250"/>
          </a:xfrm>
          <a:prstGeom prst="rect">
            <a:avLst/>
          </a:prstGeom>
          <a:solidFill>
            <a:srgbClr val="F4F6F6"/>
          </a:solidFill>
          <a:ln w="12700" cap="flat" cmpd="sng">
            <a:solidFill>
              <a:srgbClr val="D5D8DC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9"/>
          <p:cNvSpPr txBox="1"/>
          <p:nvPr/>
        </p:nvSpPr>
        <p:spPr>
          <a:xfrm>
            <a:off x="2541406" y="2220000"/>
            <a:ext cx="1752733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sz="1700" b="1">
                <a:solidFill>
                  <a:srgbClr val="1B4353"/>
                </a:solidFill>
                <a:latin typeface="Georgia"/>
              </a:rPr>
              <a:t>₹ 25+ Lakhs</a:t>
            </a:r>
          </a:p>
        </p:txBody>
      </p:sp>
      <p:sp>
        <p:nvSpPr>
          <p:cNvPr id="234" name="Google Shape;234;p19"/>
          <p:cNvSpPr txBox="1"/>
          <p:nvPr/>
        </p:nvSpPr>
        <p:spPr>
          <a:xfrm>
            <a:off x="2541406" y="2590000"/>
            <a:ext cx="1752733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sz="700" b="0">
                <a:solidFill>
                  <a:srgbClr val="2C3E50"/>
                </a:solidFill>
                <a:latin typeface="Georgia"/>
              </a:rPr>
              <a:t>Annual cost saved per
police sub-division</a:t>
            </a:r>
          </a:p>
        </p:txBody>
      </p:sp>
      <p:sp>
        <p:nvSpPr>
          <p:cNvPr id="235" name="Google Shape;235;p19"/>
          <p:cNvSpPr/>
          <p:nvPr/>
        </p:nvSpPr>
        <p:spPr>
          <a:xfrm>
            <a:off x="4733051" y="2185906"/>
            <a:ext cx="1752734" cy="857250"/>
          </a:xfrm>
          <a:prstGeom prst="rect">
            <a:avLst/>
          </a:prstGeom>
          <a:solidFill>
            <a:srgbClr val="F4F6F6"/>
          </a:solidFill>
          <a:ln w="12700" cap="flat" cmpd="sng">
            <a:solidFill>
              <a:srgbClr val="D5D8DC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9"/>
          <p:cNvSpPr txBox="1"/>
          <p:nvPr/>
        </p:nvSpPr>
        <p:spPr>
          <a:xfrm>
            <a:off x="4733051" y="2220000"/>
            <a:ext cx="1752734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defRPr sz="1700" b="1">
                <a:solidFill>
                  <a:srgbClr val="6A3D7D"/>
                </a:solidFill>
                <a:latin typeface="Georgia"/>
              </a:defRPr>
            </a:pPr>
            <a:r>
              <a:t>100.0%</a:t>
            </a:r>
          </a:p>
        </p:txBody>
      </p:sp>
      <p:sp>
        <p:nvSpPr>
          <p:cNvPr id="237" name="Google Shape;237;p19"/>
          <p:cNvSpPr txBox="1"/>
          <p:nvPr/>
        </p:nvSpPr>
        <p:spPr>
          <a:xfrm>
            <a:off x="4733051" y="2590000"/>
            <a:ext cx="1752734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defRPr sz="700" b="0">
                <a:solidFill>
                  <a:srgbClr val="2C3E50"/>
                </a:solidFill>
                <a:latin typeface="Georgia"/>
              </a:defRPr>
            </a:pPr>
            <a:r>
              <a:t>Case Copilot benchmark</a:t>
            </a:r>
          </a:p>
          <a:p>
            <a:pPr>
              <a:defRPr sz="700" b="0">
                <a:solidFill>
                  <a:srgbClr val="2C3E50"/>
                </a:solidFill>
                <a:latin typeface="Georgia"/>
              </a:defRPr>
            </a:pPr>
            <a:r>
              <a:t>accuracy across 50 FIR cases</a:t>
            </a:r>
          </a:p>
        </p:txBody>
      </p:sp>
      <p:sp>
        <p:nvSpPr>
          <p:cNvPr id="238" name="Google Shape;238;p19"/>
          <p:cNvSpPr/>
          <p:nvPr/>
        </p:nvSpPr>
        <p:spPr>
          <a:xfrm>
            <a:off x="6787537" y="2185906"/>
            <a:ext cx="1752734" cy="857250"/>
          </a:xfrm>
          <a:prstGeom prst="rect">
            <a:avLst/>
          </a:prstGeom>
          <a:solidFill>
            <a:srgbClr val="F4F6F6"/>
          </a:solidFill>
          <a:ln w="12700" cap="flat" cmpd="sng">
            <a:solidFill>
              <a:srgbClr val="D5D8DC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9"/>
          <p:cNvSpPr txBox="1"/>
          <p:nvPr/>
        </p:nvSpPr>
        <p:spPr>
          <a:xfrm>
            <a:off x="6787537" y="2220000"/>
            <a:ext cx="1752734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sz="1700" b="1">
                <a:solidFill>
                  <a:srgbClr val="B83A24"/>
                </a:solidFill>
                <a:latin typeface="Georgia"/>
              </a:rPr>
              <a:t>&lt; 60 Sec</a:t>
            </a:r>
          </a:p>
        </p:txBody>
      </p:sp>
      <p:sp>
        <p:nvSpPr>
          <p:cNvPr id="240" name="Google Shape;240;p19"/>
          <p:cNvSpPr txBox="1"/>
          <p:nvPr/>
        </p:nvSpPr>
        <p:spPr>
          <a:xfrm>
            <a:off x="6787537" y="2590000"/>
            <a:ext cx="1752734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sz="700" b="0">
                <a:solidFill>
                  <a:srgbClr val="2C3E50"/>
                </a:solidFill>
                <a:latin typeface="Georgia"/>
              </a:rPr>
              <a:t>Patrol arrival target via
interactive GIS dispatch</a:t>
            </a:r>
          </a:p>
        </p:txBody>
      </p:sp>
      <p:sp>
        <p:nvSpPr>
          <p:cNvPr id="241" name="Google Shape;241;p19"/>
          <p:cNvSpPr/>
          <p:nvPr/>
        </p:nvSpPr>
        <p:spPr>
          <a:xfrm>
            <a:off x="205740" y="3235180"/>
            <a:ext cx="2796463" cy="1028700"/>
          </a:xfrm>
          <a:prstGeom prst="rect">
            <a:avLst/>
          </a:prstGeom>
          <a:solidFill>
            <a:srgbClr val="D6EAF8"/>
          </a:solidFill>
          <a:ln w="12700" cap="flat" cmpd="sng">
            <a:solidFill>
              <a:srgbClr val="1F618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9"/>
          <p:cNvSpPr txBox="1"/>
          <p:nvPr/>
        </p:nvSpPr>
        <p:spPr>
          <a:xfrm>
            <a:off x="308610" y="3202686"/>
            <a:ext cx="2590724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618D"/>
              </a:buClr>
              <a:buSzPts val="1000"/>
              <a:buFont typeface="Cambria"/>
              <a:buNone/>
            </a:pPr>
            <a:r>
              <a:rPr lang="en" sz="1000" b="1" i="0" u="none" strike="noStrike" cap="none" dirty="0">
                <a:solidFill>
                  <a:srgbClr val="1F618D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Social Impact</a:t>
            </a:r>
            <a:endParaRPr sz="10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43" name="Google Shape;243;p19"/>
          <p:cNvSpPr txBox="1"/>
          <p:nvPr/>
        </p:nvSpPr>
        <p:spPr>
          <a:xfrm>
            <a:off x="308610" y="3497580"/>
            <a:ext cx="2590724" cy="582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12700" rIns="25400" bIns="1270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200"/>
              </a:spcAft>
              <a:defRPr sz="700" b="0">
                <a:solidFill>
                  <a:srgbClr val="2C3E50"/>
                </a:solidFill>
                <a:latin typeface="Georgia"/>
              </a:defRPr>
            </a:pPr>
            <a:r>
              <a:t>• Citizen Protection: Fast syndicate disruption, multilingual voice reporting (EN/HI/TA) &amp; GIS dispatch in &lt;60s.</a:t>
            </a:r>
          </a:p>
          <a:p>
            <a:pPr>
              <a:defRPr sz="700" b="0">
                <a:solidFill>
                  <a:srgbClr val="2C3E50"/>
                </a:solidFill>
                <a:latin typeface="Georgia"/>
              </a:defRPr>
            </a:pPr>
            <a:r>
              <a:t>• Judicial Integrity: Tamper-proof SHA-256 evidence chain certified under BSA Sec 65B &amp; BNSS 2023 Sec 63.</a:t>
            </a:r>
          </a:p>
        </p:txBody>
      </p:sp>
      <p:sp>
        <p:nvSpPr>
          <p:cNvPr id="244" name="Google Shape;244;p19"/>
          <p:cNvSpPr/>
          <p:nvPr/>
        </p:nvSpPr>
        <p:spPr>
          <a:xfrm>
            <a:off x="3185083" y="3235180"/>
            <a:ext cx="2796464" cy="1028700"/>
          </a:xfrm>
          <a:prstGeom prst="rect">
            <a:avLst/>
          </a:prstGeom>
          <a:solidFill>
            <a:srgbClr val="FDEBD0"/>
          </a:solidFill>
          <a:ln w="12700" cap="flat" cmpd="sng">
            <a:solidFill>
              <a:srgbClr val="CA6F1E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9"/>
          <p:cNvSpPr txBox="1"/>
          <p:nvPr/>
        </p:nvSpPr>
        <p:spPr>
          <a:xfrm>
            <a:off x="3276524" y="3202686"/>
            <a:ext cx="2590724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6F1E"/>
              </a:buClr>
              <a:buSzPts val="1000"/>
              <a:buFont typeface="Cambria"/>
              <a:buNone/>
            </a:pPr>
            <a:r>
              <a:rPr lang="en" sz="1000" b="1" i="0" u="none" strike="noStrike" cap="none" dirty="0">
                <a:solidFill>
                  <a:srgbClr val="CA6F1E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Economic Impact</a:t>
            </a:r>
            <a:endParaRPr sz="10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46" name="Google Shape;246;p19"/>
          <p:cNvSpPr txBox="1"/>
          <p:nvPr/>
        </p:nvSpPr>
        <p:spPr>
          <a:xfrm>
            <a:off x="3276524" y="3497580"/>
            <a:ext cx="2590724" cy="582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12700" rIns="25400" bIns="1270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200"/>
              </a:spcAft>
              <a:defRPr sz="700" b="0">
                <a:solidFill>
                  <a:srgbClr val="2C3E50"/>
                </a:solidFill>
                <a:latin typeface="Georgia"/>
              </a:defRPr>
            </a:pPr>
            <a:r>
              <a:t>• License Savings: Eliminates recurring lab software licenses, saving ₹25–40L per unit.</a:t>
            </a:r>
          </a:p>
          <a:p>
            <a:pPr>
              <a:defRPr sz="700" b="0">
                <a:solidFill>
                  <a:srgbClr val="2C3E50"/>
                </a:solidFill>
                <a:latin typeface="Georgia"/>
              </a:defRPr>
            </a:pPr>
            <a:r>
              <a:t>• Investigation Speed: Slashes evidence triage delay from 30 days to under 180 seconds, and legal drafting to 5 seconds.</a:t>
            </a:r>
          </a:p>
        </p:txBody>
      </p:sp>
      <p:sp>
        <p:nvSpPr>
          <p:cNvPr id="247" name="Google Shape;247;p19"/>
          <p:cNvSpPr/>
          <p:nvPr/>
        </p:nvSpPr>
        <p:spPr>
          <a:xfrm>
            <a:off x="6164427" y="3235180"/>
            <a:ext cx="2796463" cy="1028700"/>
          </a:xfrm>
          <a:prstGeom prst="rect">
            <a:avLst/>
          </a:prstGeom>
          <a:solidFill>
            <a:srgbClr val="D5F5E3"/>
          </a:solidFill>
          <a:ln w="12700" cap="flat" cmpd="sng">
            <a:solidFill>
              <a:srgbClr val="196F3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9"/>
          <p:cNvSpPr txBox="1"/>
          <p:nvPr/>
        </p:nvSpPr>
        <p:spPr>
          <a:xfrm>
            <a:off x="6244438" y="3202686"/>
            <a:ext cx="2590724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96F3D"/>
              </a:buClr>
              <a:buSzPts val="1000"/>
              <a:buFont typeface="Cambria"/>
              <a:buNone/>
            </a:pPr>
            <a:r>
              <a:rPr lang="en" sz="1000" b="1" i="0" u="none" strike="noStrike" cap="none" dirty="0">
                <a:solidFill>
                  <a:srgbClr val="196F3D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Environmental Impact</a:t>
            </a:r>
            <a:endParaRPr sz="10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49" name="Google Shape;249;p19"/>
          <p:cNvSpPr txBox="1"/>
          <p:nvPr/>
        </p:nvSpPr>
        <p:spPr>
          <a:xfrm>
            <a:off x="6244438" y="3497580"/>
            <a:ext cx="2590724" cy="582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12700" rIns="25400" bIns="1270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200"/>
              </a:spcAft>
              <a:defRPr sz="700" b="0">
                <a:solidFill>
                  <a:srgbClr val="2C3E50"/>
                </a:solidFill>
                <a:latin typeface="Georgia"/>
              </a:defRPr>
            </a:pPr>
            <a:r>
              <a:t>• Tamper-Proof Evidence: Hardware write-blocker protects physical bus integrity on-scene.</a:t>
            </a:r>
          </a:p>
          <a:p>
            <a:pPr>
              <a:defRPr sz="700" b="0">
                <a:solidFill>
                  <a:srgbClr val="2C3E50"/>
                </a:solidFill>
                <a:latin typeface="Georgia"/>
              </a:defRPr>
            </a:pPr>
            <a:r>
              <a:t>• Green Tech: 100% digital evidence flow on low-power 5V hardware, zero paper waste.</a:t>
            </a:r>
          </a:p>
        </p:txBody>
      </p:sp>
      <p:sp>
        <p:nvSpPr>
          <p:cNvPr id="250" name="Google Shape;250;p19"/>
          <p:cNvSpPr txBox="1"/>
          <p:nvPr/>
        </p:nvSpPr>
        <p:spPr>
          <a:xfrm>
            <a:off x="205740" y="4354830"/>
            <a:ext cx="8732291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54360"/>
              </a:buClr>
              <a:buSzPts val="1000"/>
              <a:buFont typeface="Cambria"/>
              <a:buNone/>
            </a:pPr>
            <a:r>
              <a:rPr lang="en" sz="1000" b="1" i="0" u="none" strike="noStrike" cap="none" dirty="0">
                <a:solidFill>
                  <a:srgbClr val="154360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ALIGNED WITH NATIONAL PRIORITIES</a:t>
            </a:r>
            <a:endParaRPr sz="10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51" name="Google Shape;251;p19"/>
          <p:cNvSpPr/>
          <p:nvPr/>
        </p:nvSpPr>
        <p:spPr>
          <a:xfrm>
            <a:off x="205740" y="4629150"/>
            <a:ext cx="2773603" cy="377190"/>
          </a:xfrm>
          <a:prstGeom prst="roundRect">
            <a:avLst>
              <a:gd name="adj" fmla="val 50000"/>
            </a:avLst>
          </a:prstGeom>
          <a:solidFill>
            <a:srgbClr val="1F618D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9"/>
          <p:cNvSpPr txBox="1"/>
          <p:nvPr/>
        </p:nvSpPr>
        <p:spPr>
          <a:xfrm>
            <a:off x="205740" y="4629150"/>
            <a:ext cx="2773603" cy="377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R="0" lvl="0" algn="ctr" rtl="0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Georgia"/>
              </a:rPr>
              <a:t>Digital India</a:t>
            </a:r>
            <a:endParaRPr sz="900" b="0" i="0" u="none" strike="noStrike" cap="none" dirty="0">
              <a:solidFill>
                <a:schemeClr val="bg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53" name="Google Shape;253;p19"/>
          <p:cNvSpPr/>
          <p:nvPr/>
        </p:nvSpPr>
        <p:spPr>
          <a:xfrm>
            <a:off x="3185083" y="4629150"/>
            <a:ext cx="2773603" cy="377190"/>
          </a:xfrm>
          <a:prstGeom prst="roundRect">
            <a:avLst>
              <a:gd name="adj" fmla="val 50000"/>
            </a:avLst>
          </a:prstGeom>
          <a:solidFill>
            <a:srgbClr val="1F618D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9"/>
          <p:cNvSpPr txBox="1"/>
          <p:nvPr/>
        </p:nvSpPr>
        <p:spPr>
          <a:xfrm>
            <a:off x="3185083" y="4629150"/>
            <a:ext cx="2773603" cy="377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R="0" lvl="0" algn="ctr" rtl="0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Georgia"/>
              </a:rPr>
              <a:t>Smart Policing Initiative</a:t>
            </a:r>
            <a:endParaRPr sz="900" b="0" i="0" u="none" strike="noStrike" cap="none" dirty="0">
              <a:solidFill>
                <a:schemeClr val="bg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55" name="Google Shape;255;p19"/>
          <p:cNvSpPr/>
          <p:nvPr/>
        </p:nvSpPr>
        <p:spPr>
          <a:xfrm>
            <a:off x="6164428" y="4629150"/>
            <a:ext cx="2773604" cy="377190"/>
          </a:xfrm>
          <a:prstGeom prst="roundRect">
            <a:avLst>
              <a:gd name="adj" fmla="val 50000"/>
            </a:avLst>
          </a:prstGeom>
          <a:solidFill>
            <a:srgbClr val="1F618D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9"/>
          <p:cNvSpPr txBox="1"/>
          <p:nvPr/>
        </p:nvSpPr>
        <p:spPr>
          <a:xfrm>
            <a:off x="6164428" y="4629150"/>
            <a:ext cx="2773604" cy="377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defRPr sz="800" b="1">
                <a:solidFill>
                  <a:srgbClr val="FFFFFF"/>
                </a:solidFill>
                <a:latin typeface="Georgia"/>
              </a:defRPr>
            </a:pPr>
            <a:r>
              <a:t>DPDP Act 2023 &amp; BNSS 2023 Certified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0"/>
          <p:cNvSpPr txBox="1"/>
          <p:nvPr/>
        </p:nvSpPr>
        <p:spPr>
          <a:xfrm>
            <a:off x="289016" y="202311"/>
            <a:ext cx="1645920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196F3D"/>
              </a:buClr>
              <a:buSzPts val="1100"/>
              <a:defRPr sz="1100" b="1">
                <a:solidFill>
                  <a:srgbClr val="196F3D"/>
                </a:solidFill>
                <a:latin typeface="Times New Roman"/>
              </a:defRPr>
            </a:pPr>
            <a:r>
              <a:t>NCIS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0"/>
          <p:cNvSpPr txBox="1"/>
          <p:nvPr/>
        </p:nvSpPr>
        <p:spPr>
          <a:xfrm>
            <a:off x="1954530" y="68580"/>
            <a:ext cx="52120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54360"/>
              </a:buClr>
              <a:buSzPts val="1900"/>
              <a:buFont typeface="Cambria"/>
              <a:buNone/>
            </a:pPr>
            <a:r>
              <a:rPr lang="en" sz="1900" b="1" i="0" u="none" strike="noStrike" cap="none" dirty="0">
                <a:solidFill>
                  <a:srgbClr val="154360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RESEARCH AND REFERENCES</a:t>
            </a:r>
            <a:endParaRPr sz="19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266" name="Google Shape;266;p20" descr="/home/claude/sih2026_v2/assets/sih_logo_full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83830" y="96012"/>
            <a:ext cx="1152144" cy="54178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7" name="Google Shape;267;p20"/>
          <p:cNvCxnSpPr/>
          <p:nvPr/>
        </p:nvCxnSpPr>
        <p:spPr>
          <a:xfrm>
            <a:off x="205740" y="720090"/>
            <a:ext cx="8732291" cy="0"/>
          </a:xfrm>
          <a:prstGeom prst="straightConnector1">
            <a:avLst/>
          </a:prstGeom>
          <a:noFill/>
          <a:ln w="15875" cap="flat" cmpd="sng">
            <a:solidFill>
              <a:srgbClr val="2C3E50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268" name="Google Shape;268;p20"/>
          <p:cNvSpPr txBox="1"/>
          <p:nvPr/>
        </p:nvSpPr>
        <p:spPr>
          <a:xfrm>
            <a:off x="205740" y="4924044"/>
            <a:ext cx="480060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defRPr sz="700" b="0">
                <a:solidFill>
                  <a:srgbClr val="707B7C"/>
                </a:solidFill>
                <a:latin typeface="Calibri"/>
              </a:defRPr>
            </a:pPr>
            <a:r>
              <a:t>SIH 2026 — Idea Submission — NCIS</a:t>
            </a:r>
          </a:p>
        </p:txBody>
      </p:sp>
      <p:sp>
        <p:nvSpPr>
          <p:cNvPr id="269" name="Google Shape;269;p20"/>
          <p:cNvSpPr txBox="1"/>
          <p:nvPr/>
        </p:nvSpPr>
        <p:spPr>
          <a:xfrm>
            <a:off x="8641080" y="4924044"/>
            <a:ext cx="294894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07B7C"/>
              </a:buClr>
              <a:buSzPts val="700"/>
              <a:buFont typeface="Calibri"/>
              <a:buNone/>
            </a:pPr>
            <a:r>
              <a:rPr lang="en" sz="700" b="0" i="0" u="none" strike="noStrike" cap="none">
                <a:solidFill>
                  <a:srgbClr val="707B7C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0"/>
          <p:cNvSpPr/>
          <p:nvPr/>
        </p:nvSpPr>
        <p:spPr>
          <a:xfrm>
            <a:off x="205740" y="925830"/>
            <a:ext cx="4263276" cy="33604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2C3E5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20"/>
          <p:cNvSpPr/>
          <p:nvPr/>
        </p:nvSpPr>
        <p:spPr>
          <a:xfrm>
            <a:off x="377190" y="1097280"/>
            <a:ext cx="274320" cy="274320"/>
          </a:xfrm>
          <a:prstGeom prst="ellipse">
            <a:avLst/>
          </a:prstGeom>
          <a:solidFill>
            <a:srgbClr val="6C3483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20"/>
          <p:cNvSpPr txBox="1"/>
          <p:nvPr/>
        </p:nvSpPr>
        <p:spPr>
          <a:xfrm>
            <a:off x="377190" y="109728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0"/>
          <p:cNvSpPr txBox="1"/>
          <p:nvPr/>
        </p:nvSpPr>
        <p:spPr>
          <a:xfrm>
            <a:off x="754380" y="1131570"/>
            <a:ext cx="3577476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C3483"/>
              </a:buClr>
              <a:buSzPts val="1200"/>
              <a:buFont typeface="Cambria"/>
              <a:buNone/>
            </a:pPr>
            <a:r>
              <a:rPr lang="en" sz="1200" b="1" i="0" u="none" strike="noStrike" cap="none" dirty="0">
                <a:solidFill>
                  <a:srgbClr val="6C3483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Reference</a:t>
            </a:r>
            <a:endParaRPr sz="12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74" name="Google Shape;274;p20"/>
          <p:cNvSpPr txBox="1"/>
          <p:nvPr/>
        </p:nvSpPr>
        <p:spPr>
          <a:xfrm>
            <a:off x="411480" y="1577340"/>
            <a:ext cx="3851796" cy="2606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2C3E50"/>
                </a:solidFill>
                <a:latin typeface="Georgia"/>
              </a:defRPr>
            </a:pPr>
            <a:r>
              <a:t>1. Bureau of Police Research &amp; Development (BPR&amp;D) — Smart Policing Directives &amp; AI Crime Analysis Guidelines (2024–2026).</a:t>
            </a:r>
            <a:endParaRPr lang="en-IN" sz="9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>
              <a:defRPr sz="750" b="0">
                <a:solidFill>
                  <a:srgbClr val="2C3E50"/>
                </a:solidFill>
                <a:latin typeface="Georgia"/>
              </a:defRPr>
            </a:pPr>
            <a:r>
              <a:t>2. Ministry of Home Affairs, Govt. of India — Bharatiya Nagarik Suraksha Sanhita (BNSS 2023 Sec 94, 107, 176) &amp; BSA Sec 65B Electronic Evidence.</a:t>
            </a:r>
          </a:p>
          <a:p>
            <a:pPr>
              <a:defRPr sz="750" b="0">
                <a:solidFill>
                  <a:srgbClr val="2C3E50"/>
                </a:solidFill>
                <a:latin typeface="Georgia"/>
              </a:defRPr>
            </a:pPr>
            <a:r>
              <a:t>3. National Technical Research Organisation (NTRO) — SIH26150 Multi-Vendor DVR/NVR Forensic Standards (Hikvision, Dahua, CP Plus, Honeywell, Uniview).</a:t>
            </a:r>
          </a:p>
          <a:p>
            <a:pPr>
              <a:defRPr sz="750" b="0">
                <a:solidFill>
                  <a:srgbClr val="2C3E50"/>
                </a:solidFill>
                <a:latin typeface="Georgia"/>
              </a:defRPr>
            </a:pPr>
            <a:r>
              <a:t>4. Kipf, T. N., &amp; Welling, M. — Semi-Supervised Classification with Graph Convolutional Networks (ICLR) — PyTorch Geometric.</a:t>
            </a:r>
          </a:p>
          <a:p>
            <a:pPr>
              <a:defRPr sz="750" b="0">
                <a:solidFill>
                  <a:srgbClr val="2C3E50"/>
                </a:solidFill>
                <a:latin typeface="Georgia"/>
              </a:defRPr>
            </a:pPr>
            <a:r>
              <a:t>5. National Crime Records Bureau (NCRB) — CCTNS 2.0 Schema &amp; ERSS Dial 112 Real-Time Dispatch Protocols.</a:t>
            </a:r>
          </a:p>
        </p:txBody>
      </p:sp>
      <p:sp>
        <p:nvSpPr>
          <p:cNvPr id="275" name="Google Shape;275;p20"/>
          <p:cNvSpPr/>
          <p:nvPr/>
        </p:nvSpPr>
        <p:spPr>
          <a:xfrm>
            <a:off x="4674756" y="925830"/>
            <a:ext cx="4263276" cy="33604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1F618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20"/>
          <p:cNvSpPr/>
          <p:nvPr/>
        </p:nvSpPr>
        <p:spPr>
          <a:xfrm>
            <a:off x="4846206" y="1097280"/>
            <a:ext cx="274320" cy="274320"/>
          </a:xfrm>
          <a:prstGeom prst="ellipse">
            <a:avLst/>
          </a:prstGeom>
          <a:solidFill>
            <a:srgbClr val="1F618D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20"/>
          <p:cNvSpPr txBox="1"/>
          <p:nvPr/>
        </p:nvSpPr>
        <p:spPr>
          <a:xfrm>
            <a:off x="4846206" y="109728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0"/>
          <p:cNvSpPr txBox="1"/>
          <p:nvPr/>
        </p:nvSpPr>
        <p:spPr>
          <a:xfrm>
            <a:off x="5223396" y="1131570"/>
            <a:ext cx="3577476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618D"/>
              </a:buClr>
              <a:buSzPts val="1200"/>
              <a:buFont typeface="Cambria"/>
              <a:buNone/>
            </a:pPr>
            <a:r>
              <a:rPr lang="en" sz="1200" b="1" i="0" u="none" strike="noStrike" cap="none">
                <a:solidFill>
                  <a:srgbClr val="1F618D"/>
                </a:solidFill>
                <a:latin typeface="Cambria"/>
                <a:ea typeface="Cambria"/>
                <a:cs typeface="Cambria"/>
                <a:sym typeface="Cambria"/>
              </a:rPr>
              <a:t>Links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0"/>
          <p:cNvSpPr txBox="1"/>
          <p:nvPr/>
        </p:nvSpPr>
        <p:spPr>
          <a:xfrm>
            <a:off x="4880496" y="1577340"/>
            <a:ext cx="3851796" cy="2606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defRPr sz="750" b="0">
                <a:solidFill>
                  <a:srgbClr val="2C3E50"/>
                </a:solidFill>
                <a:latin typeface="Georgia"/>
              </a:defRPr>
            </a:pPr>
            <a:r>
              <a:t>[ 1 ] Full Documentation &amp; Source — github.com/muhammedmaahir68-droid/cyber-kit</a:t>
            </a:r>
          </a:p>
          <a:p>
            <a:pPr>
              <a:defRPr sz="750" b="0">
                <a:solidFill>
                  <a:srgbClr val="2C3E50"/>
                </a:solidFill>
                <a:latin typeface="Georgia"/>
              </a:defRPr>
            </a:pPr>
            <a:r>
              <a:t>[ 2 ] Live Production Portal — cyber-kit-police.vercel.app</a:t>
            </a:r>
          </a:p>
          <a:p>
            <a:pPr>
              <a:defRPr sz="750" b="0">
                <a:solidFill>
                  <a:srgbClr val="2C3E50"/>
                </a:solidFill>
                <a:latin typeface="Georgia"/>
              </a:defRPr>
            </a:pPr>
            <a:r>
              <a:t>[ 3 ] Case Copilot AI API — /copilot/query, /copilot/eval, /copilot/cases</a:t>
            </a:r>
          </a:p>
          <a:p>
            <a:pPr>
              <a:defRPr sz="750" b="0">
                <a:solidFill>
                  <a:srgbClr val="2C3E50"/>
                </a:solidFill>
                <a:latin typeface="Georgia"/>
              </a:defRPr>
            </a:pPr>
            <a:r>
              <a:t>[ 4 ] Tactical Hardware Terminal — Physical Write-Blocker Acquisition Bus</a:t>
            </a:r>
          </a:p>
          <a:p>
            <a:pPr>
              <a:defRPr sz="750" b="0">
                <a:solidFill>
                  <a:srgbClr val="2C3E50"/>
                </a:solidFill>
                <a:latin typeface="Georgia"/>
              </a:defRPr>
            </a:pPr>
            <a:r>
              <a:t>[ 5 ] Interactive GIS Tracking &amp; GNN Demo — cyber-kit-police.vercel.app</a:t>
            </a:r>
          </a:p>
          <a:p>
            <a:pPr>
              <a:defRPr sz="750" b="0">
                <a:solidFill>
                  <a:srgbClr val="2C3E50"/>
                </a:solidFill>
                <a:latin typeface="Georgia"/>
              </a:defRPr>
            </a:pPr>
            <a:r>
              <a:t>[ 6 ] SIH Problem Statements — sih.gov.in (PS 189 - BPR&amp;D / MHA &amp; SIH26150 - NTRO)</a:t>
            </a:r>
          </a:p>
        </p:txBody>
      </p:sp>
      <p:sp>
        <p:nvSpPr>
          <p:cNvPr id="280" name="Google Shape;280;p20"/>
          <p:cNvSpPr txBox="1"/>
          <p:nvPr/>
        </p:nvSpPr>
        <p:spPr>
          <a:xfrm>
            <a:off x="205740" y="4389120"/>
            <a:ext cx="8732291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07B7C"/>
              </a:buClr>
              <a:buSzPts val="800"/>
              <a:buFont typeface="Calibri"/>
              <a:buNone/>
            </a:pP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624</TotalTime>
  <Words>1438</Words>
  <Application>Microsoft Office PowerPoint</Application>
  <PresentationFormat>On-screen Show (16:9)</PresentationFormat>
  <Paragraphs>201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Cambria</vt:lpstr>
      <vt:lpstr>Times New Roman</vt:lpstr>
      <vt:lpstr>Simple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sahana dharani</cp:lastModifiedBy>
  <cp:revision>2</cp:revision>
  <dcterms:modified xsi:type="dcterms:W3CDTF">2026-08-31T14:34:28Z</dcterms:modified>
</cp:coreProperties>
</file>